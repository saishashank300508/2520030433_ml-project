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1392" y="-83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4024" y="603499"/>
            <a:ext cx="571182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MALICIOUS</a:t>
            </a:r>
            <a:r>
              <a:rPr sz="2000" b="1" spc="-10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NETWORK</a:t>
            </a:r>
            <a:r>
              <a:rPr sz="2000" b="1" spc="-10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TRAFFIC</a:t>
            </a:r>
            <a:r>
              <a:rPr sz="2000" b="1" spc="-10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CLUSTERING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200"/>
              </a:spcBef>
            </a:pPr>
            <a:r>
              <a:rPr sz="1200" b="1" dirty="0">
                <a:latin typeface="Arial"/>
                <a:cs typeface="Arial"/>
              </a:rPr>
              <a:t>Using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K-Means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and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DBSCAN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0000" y="1492499"/>
            <a:ext cx="6300470" cy="774700"/>
          </a:xfrm>
          <a:prstGeom prst="rect">
            <a:avLst/>
          </a:prstGeom>
          <a:solidFill>
            <a:srgbClr val="EDEDED"/>
          </a:solidFill>
          <a:ln w="10159">
            <a:solidFill>
              <a:srgbClr val="000000"/>
            </a:solidFill>
          </a:ln>
        </p:spPr>
        <p:txBody>
          <a:bodyPr vert="horz" wrap="square" lIns="0" tIns="101600" rIns="0" bIns="0" rtlCol="0">
            <a:spAutoFit/>
          </a:bodyPr>
          <a:lstStyle/>
          <a:p>
            <a:pPr marL="127000">
              <a:lnSpc>
                <a:spcPct val="100000"/>
              </a:lnSpc>
              <a:spcBef>
                <a:spcPts val="800"/>
              </a:spcBef>
            </a:pPr>
            <a:r>
              <a:rPr sz="1050" b="1" dirty="0">
                <a:latin typeface="Arial"/>
                <a:cs typeface="Arial"/>
              </a:rPr>
              <a:t>Project:</a:t>
            </a:r>
            <a:r>
              <a:rPr sz="1050" b="1" spc="-35" dirty="0">
                <a:latin typeface="Arial"/>
                <a:cs typeface="Arial"/>
              </a:rPr>
              <a:t> </a:t>
            </a:r>
            <a:r>
              <a:rPr sz="1050" dirty="0">
                <a:latin typeface="Arial MT"/>
                <a:cs typeface="Arial MT"/>
              </a:rPr>
              <a:t>Malicious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Network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Traffic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Clustering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System</a:t>
            </a:r>
            <a:endParaRPr sz="1050">
              <a:latin typeface="Arial MT"/>
              <a:cs typeface="Arial MT"/>
            </a:endParaRPr>
          </a:p>
          <a:p>
            <a:pPr marL="127000">
              <a:lnSpc>
                <a:spcPct val="100000"/>
              </a:lnSpc>
              <a:spcBef>
                <a:spcPts val="240"/>
              </a:spcBef>
            </a:pPr>
            <a:r>
              <a:rPr sz="1050" b="1" dirty="0">
                <a:latin typeface="Arial"/>
                <a:cs typeface="Arial"/>
              </a:rPr>
              <a:t>Subject:</a:t>
            </a:r>
            <a:r>
              <a:rPr sz="1050" b="1" spc="-25" dirty="0">
                <a:latin typeface="Arial"/>
                <a:cs typeface="Arial"/>
              </a:rPr>
              <a:t> </a:t>
            </a:r>
            <a:r>
              <a:rPr sz="1050" dirty="0">
                <a:latin typeface="Arial MT"/>
                <a:cs typeface="Arial MT"/>
              </a:rPr>
              <a:t>Machine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Learning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/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Data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Science</a:t>
            </a:r>
            <a:endParaRPr sz="1050">
              <a:latin typeface="Arial MT"/>
              <a:cs typeface="Arial MT"/>
            </a:endParaRPr>
          </a:p>
          <a:p>
            <a:pPr marL="127000">
              <a:lnSpc>
                <a:spcPct val="100000"/>
              </a:lnSpc>
              <a:spcBef>
                <a:spcPts val="240"/>
              </a:spcBef>
            </a:pPr>
            <a:r>
              <a:rPr sz="1050" b="1" dirty="0">
                <a:latin typeface="Arial"/>
                <a:cs typeface="Arial"/>
              </a:rPr>
              <a:t>Techniques:</a:t>
            </a:r>
            <a:r>
              <a:rPr sz="1050" b="1" spc="-5" dirty="0">
                <a:latin typeface="Arial"/>
                <a:cs typeface="Arial"/>
              </a:rPr>
              <a:t> </a:t>
            </a:r>
            <a:r>
              <a:rPr sz="1050" spc="-10" dirty="0">
                <a:latin typeface="Arial MT"/>
                <a:cs typeface="Arial MT"/>
              </a:rPr>
              <a:t>K-</a:t>
            </a:r>
            <a:r>
              <a:rPr sz="1050" dirty="0">
                <a:latin typeface="Arial MT"/>
                <a:cs typeface="Arial MT"/>
              </a:rPr>
              <a:t>Means,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DBSCAN,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StandardScaler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PCA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6600" y="3522559"/>
            <a:ext cx="6281420" cy="1242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0185" indent="-19748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10185" algn="l"/>
              </a:tabLst>
            </a:pPr>
            <a:r>
              <a:rPr sz="1400" b="1" spc="-10" dirty="0">
                <a:latin typeface="Arial"/>
                <a:cs typeface="Arial"/>
              </a:rPr>
              <a:t>Objective</a:t>
            </a:r>
            <a:endParaRPr sz="1400" dirty="0">
              <a:latin typeface="Arial"/>
              <a:cs typeface="Arial"/>
            </a:endParaRPr>
          </a:p>
          <a:p>
            <a:pPr marL="12700" marR="5080">
              <a:lnSpc>
                <a:spcPct val="119000"/>
              </a:lnSpc>
              <a:spcBef>
                <a:spcPts val="680"/>
              </a:spcBef>
            </a:pP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objective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of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this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project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group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network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traffic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records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into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meaningful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clusters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using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unsupervised </a:t>
            </a:r>
            <a:r>
              <a:rPr sz="1050" dirty="0">
                <a:latin typeface="Arial MT"/>
                <a:cs typeface="Arial MT"/>
              </a:rPr>
              <a:t>machine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learning.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K-</a:t>
            </a:r>
            <a:r>
              <a:rPr sz="1050" dirty="0">
                <a:latin typeface="Arial MT"/>
                <a:cs typeface="Arial MT"/>
              </a:rPr>
              <a:t>Means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used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create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two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clusters,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while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DBSCAN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identifies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dense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groups</a:t>
            </a:r>
            <a:r>
              <a:rPr sz="1050" spc="-25" dirty="0">
                <a:latin typeface="Arial MT"/>
                <a:cs typeface="Arial MT"/>
              </a:rPr>
              <a:t> and </a:t>
            </a:r>
            <a:r>
              <a:rPr sz="1050" dirty="0">
                <a:latin typeface="Arial MT"/>
                <a:cs typeface="Arial MT"/>
              </a:rPr>
              <a:t>possible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outliers.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PCA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used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reduce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scaled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feature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space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two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dimensions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for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visualization.</a:t>
            </a:r>
            <a:endParaRPr sz="1050" dirty="0">
              <a:latin typeface="Arial MT"/>
              <a:cs typeface="Arial MT"/>
            </a:endParaRPr>
          </a:p>
          <a:p>
            <a:pPr marL="210185" indent="-197485">
              <a:lnSpc>
                <a:spcPct val="100000"/>
              </a:lnSpc>
              <a:spcBef>
                <a:spcPts val="1040"/>
              </a:spcBef>
              <a:buAutoNum type="arabicPeriod" startAt="2"/>
              <a:tabLst>
                <a:tab pos="210185" algn="l"/>
              </a:tabLst>
            </a:pPr>
            <a:r>
              <a:rPr sz="1400" b="1" spc="-10" dirty="0">
                <a:latin typeface="Arial"/>
                <a:cs typeface="Arial"/>
              </a:rPr>
              <a:t>Methodology</a:t>
            </a:r>
            <a:endParaRPr sz="1400" dirty="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4605775"/>
              </p:ext>
            </p:extLst>
          </p:nvPr>
        </p:nvGraphicFramePr>
        <p:xfrm>
          <a:off x="736600" y="4929052"/>
          <a:ext cx="6298565" cy="2413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9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92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130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85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Step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508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8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Technique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508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8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Purpose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508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2121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850" spc="-50" dirty="0">
                          <a:latin typeface="Arial MT"/>
                          <a:cs typeface="Arial MT"/>
                        </a:rPr>
                        <a:t>1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850" dirty="0">
                          <a:latin typeface="Arial MT"/>
                          <a:cs typeface="Arial MT"/>
                        </a:rPr>
                        <a:t>Dataset</a:t>
                      </a:r>
                      <a:r>
                        <a:rPr sz="85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50" spc="-10" dirty="0">
                          <a:latin typeface="Arial MT"/>
                          <a:cs typeface="Arial MT"/>
                        </a:rPr>
                        <a:t>Loading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850" dirty="0">
                          <a:latin typeface="Arial MT"/>
                          <a:cs typeface="Arial MT"/>
                        </a:rPr>
                        <a:t>Load</a:t>
                      </a:r>
                      <a:r>
                        <a:rPr sz="85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50" spc="-10" dirty="0">
                          <a:latin typeface="Arial MT"/>
                          <a:cs typeface="Arial MT"/>
                        </a:rPr>
                        <a:t>Malicious_Network_Traffic_500.csv</a:t>
                      </a:r>
                      <a:endParaRPr sz="850" dirty="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850" spc="-50" dirty="0">
                          <a:latin typeface="Arial MT"/>
                          <a:cs typeface="Arial MT"/>
                        </a:rPr>
                        <a:t>2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850" dirty="0">
                          <a:latin typeface="Arial MT"/>
                          <a:cs typeface="Arial MT"/>
                        </a:rPr>
                        <a:t>Data</a:t>
                      </a:r>
                      <a:r>
                        <a:rPr sz="85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50" spc="-10" dirty="0">
                          <a:latin typeface="Arial MT"/>
                          <a:cs typeface="Arial MT"/>
                        </a:rPr>
                        <a:t>Cleaning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850" dirty="0">
                          <a:latin typeface="Arial MT"/>
                          <a:cs typeface="Arial MT"/>
                        </a:rPr>
                        <a:t>Replace</a:t>
                      </a:r>
                      <a:r>
                        <a:rPr sz="85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50" dirty="0">
                          <a:latin typeface="Arial MT"/>
                          <a:cs typeface="Arial MT"/>
                        </a:rPr>
                        <a:t>infinite</a:t>
                      </a:r>
                      <a:r>
                        <a:rPr sz="85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50" dirty="0">
                          <a:latin typeface="Arial MT"/>
                          <a:cs typeface="Arial MT"/>
                        </a:rPr>
                        <a:t>values</a:t>
                      </a:r>
                      <a:r>
                        <a:rPr sz="85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5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85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50" dirty="0">
                          <a:latin typeface="Arial MT"/>
                          <a:cs typeface="Arial MT"/>
                        </a:rPr>
                        <a:t>fill</a:t>
                      </a:r>
                      <a:r>
                        <a:rPr sz="85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50" dirty="0">
                          <a:latin typeface="Arial MT"/>
                          <a:cs typeface="Arial MT"/>
                        </a:rPr>
                        <a:t>missing</a:t>
                      </a:r>
                      <a:r>
                        <a:rPr sz="85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50" spc="-10" dirty="0">
                          <a:latin typeface="Arial MT"/>
                          <a:cs typeface="Arial MT"/>
                        </a:rPr>
                        <a:t>values</a:t>
                      </a:r>
                      <a:endParaRPr sz="850" dirty="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850" spc="-50" dirty="0">
                          <a:latin typeface="Arial MT"/>
                          <a:cs typeface="Arial MT"/>
                        </a:rPr>
                        <a:t>3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850" spc="-10" dirty="0">
                          <a:latin typeface="Arial MT"/>
                          <a:cs typeface="Arial MT"/>
                        </a:rPr>
                        <a:t>StandardScaler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850" dirty="0">
                          <a:latin typeface="Arial MT"/>
                          <a:cs typeface="Arial MT"/>
                        </a:rPr>
                        <a:t>Normalize</a:t>
                      </a:r>
                      <a:r>
                        <a:rPr sz="85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50" dirty="0">
                          <a:latin typeface="Arial MT"/>
                          <a:cs typeface="Arial MT"/>
                        </a:rPr>
                        <a:t>features</a:t>
                      </a:r>
                      <a:r>
                        <a:rPr sz="85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50" dirty="0">
                          <a:latin typeface="Arial MT"/>
                          <a:cs typeface="Arial MT"/>
                        </a:rPr>
                        <a:t>before</a:t>
                      </a:r>
                      <a:r>
                        <a:rPr sz="85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50" spc="-10" dirty="0">
                          <a:latin typeface="Arial MT"/>
                          <a:cs typeface="Arial MT"/>
                        </a:rPr>
                        <a:t>clustering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850" spc="-50" dirty="0">
                          <a:latin typeface="Arial MT"/>
                          <a:cs typeface="Arial MT"/>
                        </a:rPr>
                        <a:t>4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850" dirty="0">
                          <a:latin typeface="Arial MT"/>
                          <a:cs typeface="Arial MT"/>
                        </a:rPr>
                        <a:t>K-</a:t>
                      </a:r>
                      <a:r>
                        <a:rPr sz="850" spc="-10" dirty="0">
                          <a:latin typeface="Arial MT"/>
                          <a:cs typeface="Arial MT"/>
                        </a:rPr>
                        <a:t>Means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850" dirty="0">
                          <a:latin typeface="Arial MT"/>
                          <a:cs typeface="Arial MT"/>
                        </a:rPr>
                        <a:t>Create</a:t>
                      </a:r>
                      <a:r>
                        <a:rPr sz="85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50" dirty="0">
                          <a:latin typeface="Arial MT"/>
                          <a:cs typeface="Arial MT"/>
                        </a:rPr>
                        <a:t>two</a:t>
                      </a:r>
                      <a:r>
                        <a:rPr sz="85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50" dirty="0">
                          <a:latin typeface="Arial MT"/>
                          <a:cs typeface="Arial MT"/>
                        </a:rPr>
                        <a:t>traffic</a:t>
                      </a:r>
                      <a:r>
                        <a:rPr sz="85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50" spc="-10" dirty="0">
                          <a:latin typeface="Arial MT"/>
                          <a:cs typeface="Arial MT"/>
                        </a:rPr>
                        <a:t>clusters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850" spc="-50" dirty="0">
                          <a:latin typeface="Arial MT"/>
                          <a:cs typeface="Arial MT"/>
                        </a:rPr>
                        <a:t>5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850" spc="-10" dirty="0">
                          <a:latin typeface="Arial MT"/>
                          <a:cs typeface="Arial MT"/>
                        </a:rPr>
                        <a:t>DBSCAN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850" dirty="0">
                          <a:latin typeface="Arial MT"/>
                          <a:cs typeface="Arial MT"/>
                        </a:rPr>
                        <a:t>Discover</a:t>
                      </a:r>
                      <a:r>
                        <a:rPr sz="85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50" dirty="0">
                          <a:latin typeface="Arial MT"/>
                          <a:cs typeface="Arial MT"/>
                        </a:rPr>
                        <a:t>dense</a:t>
                      </a:r>
                      <a:r>
                        <a:rPr sz="85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50" dirty="0">
                          <a:latin typeface="Arial MT"/>
                          <a:cs typeface="Arial MT"/>
                        </a:rPr>
                        <a:t>clusters</a:t>
                      </a:r>
                      <a:r>
                        <a:rPr sz="85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5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85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50" spc="-10" dirty="0">
                          <a:latin typeface="Arial MT"/>
                          <a:cs typeface="Arial MT"/>
                        </a:rPr>
                        <a:t>outliers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850" spc="-50" dirty="0">
                          <a:latin typeface="Arial MT"/>
                          <a:cs typeface="Arial MT"/>
                        </a:rPr>
                        <a:t>6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850" dirty="0">
                          <a:latin typeface="Arial MT"/>
                          <a:cs typeface="Arial MT"/>
                        </a:rPr>
                        <a:t>Silhouette</a:t>
                      </a:r>
                      <a:r>
                        <a:rPr sz="85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50" spc="-10" dirty="0">
                          <a:latin typeface="Arial MT"/>
                          <a:cs typeface="Arial MT"/>
                        </a:rPr>
                        <a:t>Score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850" dirty="0">
                          <a:latin typeface="Arial MT"/>
                          <a:cs typeface="Arial MT"/>
                        </a:rPr>
                        <a:t>Evaluate</a:t>
                      </a:r>
                      <a:r>
                        <a:rPr sz="85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50" spc="-10" dirty="0">
                          <a:latin typeface="Arial MT"/>
                          <a:cs typeface="Arial MT"/>
                        </a:rPr>
                        <a:t>K-</a:t>
                      </a:r>
                      <a:r>
                        <a:rPr sz="850" dirty="0">
                          <a:latin typeface="Arial MT"/>
                          <a:cs typeface="Arial MT"/>
                        </a:rPr>
                        <a:t>Means</a:t>
                      </a:r>
                      <a:r>
                        <a:rPr sz="85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50" dirty="0">
                          <a:latin typeface="Arial MT"/>
                          <a:cs typeface="Arial MT"/>
                        </a:rPr>
                        <a:t>cluster</a:t>
                      </a:r>
                      <a:r>
                        <a:rPr sz="85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50" spc="-10" dirty="0">
                          <a:latin typeface="Arial MT"/>
                          <a:cs typeface="Arial MT"/>
                        </a:rPr>
                        <a:t>separation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850" spc="-50" dirty="0">
                          <a:latin typeface="Arial MT"/>
                          <a:cs typeface="Arial MT"/>
                        </a:rPr>
                        <a:t>7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850" spc="-25" dirty="0">
                          <a:latin typeface="Arial MT"/>
                          <a:cs typeface="Arial MT"/>
                        </a:rPr>
                        <a:t>PCA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850" dirty="0">
                          <a:latin typeface="Arial MT"/>
                          <a:cs typeface="Arial MT"/>
                        </a:rPr>
                        <a:t>Create</a:t>
                      </a:r>
                      <a:r>
                        <a:rPr sz="850" spc="-10" dirty="0">
                          <a:latin typeface="Arial MT"/>
                          <a:cs typeface="Arial MT"/>
                        </a:rPr>
                        <a:t> 2-</a:t>
                      </a:r>
                      <a:r>
                        <a:rPr sz="850" dirty="0">
                          <a:latin typeface="Arial MT"/>
                          <a:cs typeface="Arial MT"/>
                        </a:rPr>
                        <a:t>D</a:t>
                      </a:r>
                      <a:r>
                        <a:rPr sz="850" spc="-10" dirty="0">
                          <a:latin typeface="Arial MT"/>
                          <a:cs typeface="Arial MT"/>
                        </a:rPr>
                        <a:t> visualization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850" spc="-50" dirty="0">
                          <a:latin typeface="Arial MT"/>
                          <a:cs typeface="Arial MT"/>
                        </a:rPr>
                        <a:t>8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850" spc="-10" dirty="0">
                          <a:latin typeface="Arial MT"/>
                          <a:cs typeface="Arial MT"/>
                        </a:rPr>
                        <a:t>Cross-tabulation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850" dirty="0">
                          <a:latin typeface="Arial MT"/>
                          <a:cs typeface="Arial MT"/>
                        </a:rPr>
                        <a:t>Compare</a:t>
                      </a:r>
                      <a:r>
                        <a:rPr sz="85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50" dirty="0">
                          <a:latin typeface="Arial MT"/>
                          <a:cs typeface="Arial MT"/>
                        </a:rPr>
                        <a:t>clusters</a:t>
                      </a:r>
                      <a:r>
                        <a:rPr sz="85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50" dirty="0">
                          <a:latin typeface="Arial MT"/>
                          <a:cs typeface="Arial MT"/>
                        </a:rPr>
                        <a:t>with</a:t>
                      </a:r>
                      <a:r>
                        <a:rPr sz="85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50" dirty="0">
                          <a:latin typeface="Arial MT"/>
                          <a:cs typeface="Arial MT"/>
                        </a:rPr>
                        <a:t>Normal/Attack</a:t>
                      </a:r>
                      <a:r>
                        <a:rPr sz="85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50" spc="-10" dirty="0">
                          <a:latin typeface="Arial MT"/>
                          <a:cs typeface="Arial MT"/>
                        </a:rPr>
                        <a:t>labels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850" spc="-50" dirty="0">
                          <a:latin typeface="Arial MT"/>
                          <a:cs typeface="Arial MT"/>
                        </a:rPr>
                        <a:t>9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850" dirty="0">
                          <a:latin typeface="Arial MT"/>
                          <a:cs typeface="Arial MT"/>
                        </a:rPr>
                        <a:t>CSV </a:t>
                      </a:r>
                      <a:r>
                        <a:rPr sz="850" spc="-10" dirty="0">
                          <a:latin typeface="Arial MT"/>
                          <a:cs typeface="Arial MT"/>
                        </a:rPr>
                        <a:t>Export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850" dirty="0">
                          <a:latin typeface="Arial MT"/>
                          <a:cs typeface="Arial MT"/>
                        </a:rPr>
                        <a:t>Save</a:t>
                      </a:r>
                      <a:r>
                        <a:rPr sz="85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50" dirty="0">
                          <a:latin typeface="Arial MT"/>
                          <a:cs typeface="Arial MT"/>
                        </a:rPr>
                        <a:t>clustering</a:t>
                      </a:r>
                      <a:r>
                        <a:rPr sz="85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50" spc="-10" dirty="0">
                          <a:latin typeface="Arial MT"/>
                          <a:cs typeface="Arial MT"/>
                        </a:rPr>
                        <a:t>results</a:t>
                      </a:r>
                      <a:endParaRPr sz="850" dirty="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8DCDA16-54C6-C126-DC45-CE7606286FFE}"/>
              </a:ext>
            </a:extLst>
          </p:cNvPr>
          <p:cNvSpPr txBox="1"/>
          <p:nvPr/>
        </p:nvSpPr>
        <p:spPr>
          <a:xfrm>
            <a:off x="630000" y="2520352"/>
            <a:ext cx="661246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Roll Numbers: 2520030433, 2520030545, 2520030546 Department: Computer Science Engineering, KLH University Course: Machine Learning (25SC2107E) | Guide: Mr. G. Ravindra Babu</a:t>
            </a: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00" y="603499"/>
            <a:ext cx="6141085" cy="706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3. Complete Python </a:t>
            </a:r>
            <a:r>
              <a:rPr sz="1400" b="1" spc="-20" dirty="0">
                <a:latin typeface="Arial"/>
                <a:cs typeface="Arial"/>
              </a:rPr>
              <a:t>Code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19000"/>
              </a:lnSpc>
              <a:spcBef>
                <a:spcPts val="680"/>
              </a:spcBef>
            </a:pP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following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complete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implementation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supplied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for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project.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It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should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be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executed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same </a:t>
            </a:r>
            <a:r>
              <a:rPr sz="1050" dirty="0">
                <a:latin typeface="Arial MT"/>
                <a:cs typeface="Arial MT"/>
              </a:rPr>
              <a:t>folder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Malicious_Network_Traffic_500.csv.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7000" y="1416300"/>
            <a:ext cx="3239135" cy="86690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1248410">
              <a:lnSpc>
                <a:spcPct val="105100"/>
              </a:lnSpc>
              <a:spcBef>
                <a:spcPts val="90"/>
              </a:spcBef>
            </a:pPr>
            <a:r>
              <a:rPr sz="650" dirty="0">
                <a:latin typeface="Courier New"/>
                <a:cs typeface="Courier New"/>
              </a:rPr>
              <a:t>#</a:t>
            </a:r>
            <a:r>
              <a:rPr sz="650" spc="13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Malicious</a:t>
            </a:r>
            <a:r>
              <a:rPr sz="650" spc="13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Network</a:t>
            </a:r>
            <a:r>
              <a:rPr sz="650" spc="13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Traffic</a:t>
            </a:r>
            <a:r>
              <a:rPr sz="650" spc="135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Clustering </a:t>
            </a:r>
            <a:r>
              <a:rPr sz="650" dirty="0">
                <a:latin typeface="Courier New"/>
                <a:cs typeface="Courier New"/>
              </a:rPr>
              <a:t>#</a:t>
            </a:r>
            <a:r>
              <a:rPr sz="650" spc="9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Using</a:t>
            </a:r>
            <a:r>
              <a:rPr sz="650" spc="9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K-Means</a:t>
            </a:r>
            <a:r>
              <a:rPr sz="650" spc="9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and</a:t>
            </a:r>
            <a:r>
              <a:rPr sz="650" spc="95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DBSCAN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650">
              <a:latin typeface="Courier New"/>
              <a:cs typeface="Courier New"/>
            </a:endParaRPr>
          </a:p>
          <a:p>
            <a:pPr marL="12700" marR="2233295">
              <a:lnSpc>
                <a:spcPct val="105100"/>
              </a:lnSpc>
              <a:spcBef>
                <a:spcPts val="5"/>
              </a:spcBef>
            </a:pPr>
            <a:r>
              <a:rPr sz="650" dirty="0">
                <a:latin typeface="Courier New"/>
                <a:cs typeface="Courier New"/>
              </a:rPr>
              <a:t>import</a:t>
            </a:r>
            <a:r>
              <a:rPr sz="650" spc="10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pandas</a:t>
            </a:r>
            <a:r>
              <a:rPr sz="650" spc="10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as</a:t>
            </a:r>
            <a:r>
              <a:rPr sz="650" spc="105" dirty="0">
                <a:latin typeface="Courier New"/>
                <a:cs typeface="Courier New"/>
              </a:rPr>
              <a:t> </a:t>
            </a:r>
            <a:r>
              <a:rPr sz="650" spc="-25" dirty="0">
                <a:latin typeface="Courier New"/>
                <a:cs typeface="Courier New"/>
              </a:rPr>
              <a:t>pd </a:t>
            </a:r>
            <a:r>
              <a:rPr sz="650" dirty="0">
                <a:latin typeface="Courier New"/>
                <a:cs typeface="Courier New"/>
              </a:rPr>
              <a:t>import</a:t>
            </a:r>
            <a:r>
              <a:rPr sz="650" spc="9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numpy</a:t>
            </a:r>
            <a:r>
              <a:rPr sz="650" spc="10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as</a:t>
            </a:r>
            <a:r>
              <a:rPr sz="650" spc="100" dirty="0">
                <a:latin typeface="Courier New"/>
                <a:cs typeface="Courier New"/>
              </a:rPr>
              <a:t> </a:t>
            </a:r>
            <a:r>
              <a:rPr sz="650" spc="-25" dirty="0">
                <a:latin typeface="Courier New"/>
                <a:cs typeface="Courier New"/>
              </a:rPr>
              <a:t>np</a:t>
            </a:r>
            <a:endParaRPr sz="6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650" dirty="0">
                <a:latin typeface="Courier New"/>
                <a:cs typeface="Courier New"/>
              </a:rPr>
              <a:t>import</a:t>
            </a:r>
            <a:r>
              <a:rPr sz="650" spc="17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matplotlib.pyplot</a:t>
            </a:r>
            <a:r>
              <a:rPr sz="650" spc="17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as</a:t>
            </a:r>
            <a:r>
              <a:rPr sz="650" spc="175" dirty="0">
                <a:latin typeface="Courier New"/>
                <a:cs typeface="Courier New"/>
              </a:rPr>
              <a:t> </a:t>
            </a:r>
            <a:r>
              <a:rPr sz="650" spc="-25" dirty="0">
                <a:latin typeface="Courier New"/>
                <a:cs typeface="Courier New"/>
              </a:rPr>
              <a:t>plt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650">
              <a:latin typeface="Courier New"/>
              <a:cs typeface="Courier New"/>
            </a:endParaRPr>
          </a:p>
          <a:p>
            <a:pPr marL="12700" marR="730250">
              <a:lnSpc>
                <a:spcPct val="105100"/>
              </a:lnSpc>
            </a:pPr>
            <a:r>
              <a:rPr sz="650" spc="10" dirty="0">
                <a:latin typeface="Courier New"/>
                <a:cs typeface="Courier New"/>
              </a:rPr>
              <a:t>from</a:t>
            </a:r>
            <a:r>
              <a:rPr sz="650" spc="110" dirty="0">
                <a:latin typeface="Courier New"/>
                <a:cs typeface="Courier New"/>
              </a:rPr>
              <a:t> </a:t>
            </a:r>
            <a:r>
              <a:rPr sz="650" spc="10" dirty="0">
                <a:latin typeface="Courier New"/>
                <a:cs typeface="Courier New"/>
              </a:rPr>
              <a:t>sklearn.preprocessing</a:t>
            </a:r>
            <a:r>
              <a:rPr sz="650" spc="110" dirty="0">
                <a:latin typeface="Courier New"/>
                <a:cs typeface="Courier New"/>
              </a:rPr>
              <a:t> </a:t>
            </a:r>
            <a:r>
              <a:rPr sz="650" spc="10" dirty="0">
                <a:latin typeface="Courier New"/>
                <a:cs typeface="Courier New"/>
              </a:rPr>
              <a:t>import</a:t>
            </a:r>
            <a:r>
              <a:rPr sz="650" spc="114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StandardScaler </a:t>
            </a:r>
            <a:r>
              <a:rPr sz="650" dirty="0">
                <a:latin typeface="Courier New"/>
                <a:cs typeface="Courier New"/>
              </a:rPr>
              <a:t>from</a:t>
            </a:r>
            <a:r>
              <a:rPr sz="650" spc="17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sklearn.cluster</a:t>
            </a:r>
            <a:r>
              <a:rPr sz="650" spc="17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import</a:t>
            </a:r>
            <a:r>
              <a:rPr sz="650" spc="17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KMeans,</a:t>
            </a:r>
            <a:r>
              <a:rPr sz="650" spc="17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DBSCAN</a:t>
            </a:r>
            <a:endParaRPr sz="6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650" spc="10" dirty="0">
                <a:latin typeface="Courier New"/>
                <a:cs typeface="Courier New"/>
              </a:rPr>
              <a:t>from</a:t>
            </a:r>
            <a:r>
              <a:rPr sz="650" spc="110" dirty="0">
                <a:latin typeface="Courier New"/>
                <a:cs typeface="Courier New"/>
              </a:rPr>
              <a:t> </a:t>
            </a:r>
            <a:r>
              <a:rPr sz="650" spc="10" dirty="0">
                <a:latin typeface="Courier New"/>
                <a:cs typeface="Courier New"/>
              </a:rPr>
              <a:t>sklearn.decomposition</a:t>
            </a:r>
            <a:r>
              <a:rPr sz="650" spc="110" dirty="0">
                <a:latin typeface="Courier New"/>
                <a:cs typeface="Courier New"/>
              </a:rPr>
              <a:t> </a:t>
            </a:r>
            <a:r>
              <a:rPr sz="650" spc="10" dirty="0">
                <a:latin typeface="Courier New"/>
                <a:cs typeface="Courier New"/>
              </a:rPr>
              <a:t>import</a:t>
            </a:r>
            <a:r>
              <a:rPr sz="650" spc="114" dirty="0">
                <a:latin typeface="Courier New"/>
                <a:cs typeface="Courier New"/>
              </a:rPr>
              <a:t> </a:t>
            </a:r>
            <a:r>
              <a:rPr sz="650" spc="-25" dirty="0">
                <a:latin typeface="Courier New"/>
                <a:cs typeface="Courier New"/>
              </a:rPr>
              <a:t>PCA</a:t>
            </a:r>
            <a:endParaRPr sz="6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650" dirty="0">
                <a:latin typeface="Courier New"/>
                <a:cs typeface="Courier New"/>
              </a:rPr>
              <a:t>from</a:t>
            </a:r>
            <a:r>
              <a:rPr sz="650" spc="21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sklearn.metrics</a:t>
            </a:r>
            <a:r>
              <a:rPr sz="650" spc="22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import</a:t>
            </a:r>
            <a:r>
              <a:rPr sz="650" spc="22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silhouette_score,</a:t>
            </a:r>
            <a:r>
              <a:rPr sz="650" spc="215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confusion_matrix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650">
              <a:latin typeface="Courier New"/>
              <a:cs typeface="Courier New"/>
            </a:endParaRPr>
          </a:p>
          <a:p>
            <a:pPr marL="12700" marR="160020">
              <a:lnSpc>
                <a:spcPct val="105100"/>
              </a:lnSpc>
            </a:pPr>
            <a:r>
              <a:rPr sz="650" dirty="0">
                <a:latin typeface="Courier New"/>
                <a:cs typeface="Courier New"/>
              </a:rPr>
              <a:t>#</a:t>
            </a:r>
            <a:r>
              <a:rPr sz="650" spc="3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=========================================================</a:t>
            </a:r>
            <a:r>
              <a:rPr sz="650" spc="500" dirty="0">
                <a:latin typeface="Courier New"/>
                <a:cs typeface="Courier New"/>
              </a:rPr>
              <a:t>  </a:t>
            </a:r>
            <a:r>
              <a:rPr sz="650" dirty="0">
                <a:latin typeface="Courier New"/>
                <a:cs typeface="Courier New"/>
              </a:rPr>
              <a:t>#</a:t>
            </a:r>
            <a:r>
              <a:rPr sz="650" spc="6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1.</a:t>
            </a:r>
            <a:r>
              <a:rPr sz="650" spc="6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LOAD</a:t>
            </a:r>
            <a:r>
              <a:rPr sz="650" spc="6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DATASET</a:t>
            </a:r>
            <a:endParaRPr sz="6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650" dirty="0">
                <a:latin typeface="Courier New"/>
                <a:cs typeface="Courier New"/>
              </a:rPr>
              <a:t>#</a:t>
            </a:r>
            <a:r>
              <a:rPr sz="650" spc="325" dirty="0">
                <a:latin typeface="Courier New"/>
                <a:cs typeface="Courier New"/>
              </a:rPr>
              <a:t>  </a:t>
            </a:r>
            <a:r>
              <a:rPr sz="650" spc="-10" dirty="0">
                <a:latin typeface="Courier New"/>
                <a:cs typeface="Courier New"/>
              </a:rPr>
              <a:t>=========================================================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650">
              <a:latin typeface="Courier New"/>
              <a:cs typeface="Courier New"/>
            </a:endParaRPr>
          </a:p>
          <a:p>
            <a:pPr marL="12700" marR="782320">
              <a:lnSpc>
                <a:spcPct val="105100"/>
              </a:lnSpc>
            </a:pPr>
            <a:r>
              <a:rPr sz="650" dirty="0">
                <a:latin typeface="Courier New"/>
                <a:cs typeface="Courier New"/>
              </a:rPr>
              <a:t>file_name</a:t>
            </a:r>
            <a:r>
              <a:rPr sz="650" spc="11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=</a:t>
            </a:r>
            <a:r>
              <a:rPr sz="650" spc="11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"Malicious_Network_Traffic_500.csv"</a:t>
            </a:r>
            <a:r>
              <a:rPr sz="650" spc="50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data</a:t>
            </a:r>
            <a:r>
              <a:rPr sz="650" spc="6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=</a:t>
            </a:r>
            <a:r>
              <a:rPr sz="650" spc="65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pd.read_csv(file_name)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650">
              <a:latin typeface="Courier New"/>
              <a:cs typeface="Courier New"/>
            </a:endParaRPr>
          </a:p>
          <a:p>
            <a:pPr marL="12700" marR="574675">
              <a:lnSpc>
                <a:spcPct val="105100"/>
              </a:lnSpc>
              <a:spcBef>
                <a:spcPts val="5"/>
              </a:spcBef>
            </a:pPr>
            <a:r>
              <a:rPr sz="650" spc="-10" dirty="0">
                <a:latin typeface="Courier New"/>
                <a:cs typeface="Courier New"/>
              </a:rPr>
              <a:t>print("==========================================")</a:t>
            </a:r>
            <a:r>
              <a:rPr sz="650" spc="500" dirty="0">
                <a:latin typeface="Courier New"/>
                <a:cs typeface="Courier New"/>
              </a:rPr>
              <a:t>  </a:t>
            </a:r>
            <a:r>
              <a:rPr sz="650" dirty="0">
                <a:latin typeface="Courier New"/>
                <a:cs typeface="Courier New"/>
              </a:rPr>
              <a:t>print("</a:t>
            </a:r>
            <a:r>
              <a:rPr sz="650" spc="16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MALICIOUS</a:t>
            </a:r>
            <a:r>
              <a:rPr sz="650" spc="16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NETWORK</a:t>
            </a:r>
            <a:r>
              <a:rPr sz="650" spc="16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TRAFFIC</a:t>
            </a:r>
            <a:r>
              <a:rPr sz="650" spc="16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CLUSTERING") print("==========================================")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650">
              <a:latin typeface="Courier New"/>
              <a:cs typeface="Courier New"/>
            </a:endParaRPr>
          </a:p>
          <a:p>
            <a:pPr marL="12700" marR="1041400">
              <a:lnSpc>
                <a:spcPct val="105100"/>
              </a:lnSpc>
            </a:pPr>
            <a:r>
              <a:rPr sz="650" dirty="0">
                <a:latin typeface="Courier New"/>
                <a:cs typeface="Courier New"/>
              </a:rPr>
              <a:t>print("\nDataset</a:t>
            </a:r>
            <a:r>
              <a:rPr sz="650" spc="22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loaded</a:t>
            </a:r>
            <a:r>
              <a:rPr sz="650" spc="229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successfully!") </a:t>
            </a:r>
            <a:r>
              <a:rPr sz="650" dirty="0">
                <a:latin typeface="Courier New"/>
                <a:cs typeface="Courier New"/>
              </a:rPr>
              <a:t>print("Number</a:t>
            </a:r>
            <a:r>
              <a:rPr sz="650" spc="15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of</a:t>
            </a:r>
            <a:r>
              <a:rPr sz="650" spc="15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rows:",</a:t>
            </a:r>
            <a:r>
              <a:rPr sz="650" spc="16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data.shape[0]) </a:t>
            </a:r>
            <a:r>
              <a:rPr sz="650" dirty="0">
                <a:latin typeface="Courier New"/>
                <a:cs typeface="Courier New"/>
              </a:rPr>
              <a:t>print("Number</a:t>
            </a:r>
            <a:r>
              <a:rPr sz="650" spc="17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of</a:t>
            </a:r>
            <a:r>
              <a:rPr sz="650" spc="17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columns:",</a:t>
            </a:r>
            <a:r>
              <a:rPr sz="650" spc="175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data.shape[1])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650">
              <a:latin typeface="Courier New"/>
              <a:cs typeface="Courier New"/>
            </a:endParaRPr>
          </a:p>
          <a:p>
            <a:pPr marL="12700" marR="1818639">
              <a:lnSpc>
                <a:spcPct val="105100"/>
              </a:lnSpc>
            </a:pPr>
            <a:r>
              <a:rPr sz="650" dirty="0">
                <a:latin typeface="Courier New"/>
                <a:cs typeface="Courier New"/>
              </a:rPr>
              <a:t>print("\nFirst</a:t>
            </a:r>
            <a:r>
              <a:rPr sz="650" spc="16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5</a:t>
            </a:r>
            <a:r>
              <a:rPr sz="650" spc="16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records:") print(data.head())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650">
              <a:latin typeface="Courier New"/>
              <a:cs typeface="Courier New"/>
            </a:endParaRPr>
          </a:p>
          <a:p>
            <a:pPr marL="12700" marR="160020">
              <a:lnSpc>
                <a:spcPct val="105100"/>
              </a:lnSpc>
            </a:pPr>
            <a:r>
              <a:rPr sz="650" dirty="0">
                <a:latin typeface="Courier New"/>
                <a:cs typeface="Courier New"/>
              </a:rPr>
              <a:t>#</a:t>
            </a:r>
            <a:r>
              <a:rPr sz="650" spc="3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=========================================================</a:t>
            </a:r>
            <a:r>
              <a:rPr sz="650" spc="500" dirty="0">
                <a:latin typeface="Courier New"/>
                <a:cs typeface="Courier New"/>
              </a:rPr>
              <a:t>  </a:t>
            </a:r>
            <a:r>
              <a:rPr sz="650" dirty="0">
                <a:latin typeface="Courier New"/>
                <a:cs typeface="Courier New"/>
              </a:rPr>
              <a:t>#</a:t>
            </a:r>
            <a:r>
              <a:rPr sz="650" spc="6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2.</a:t>
            </a:r>
            <a:r>
              <a:rPr sz="650" spc="6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CHECK</a:t>
            </a:r>
            <a:r>
              <a:rPr sz="650" spc="7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DATASET</a:t>
            </a:r>
            <a:endParaRPr sz="6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650" dirty="0">
                <a:latin typeface="Courier New"/>
                <a:cs typeface="Courier New"/>
              </a:rPr>
              <a:t>#</a:t>
            </a:r>
            <a:r>
              <a:rPr sz="650" spc="325" dirty="0">
                <a:latin typeface="Courier New"/>
                <a:cs typeface="Courier New"/>
              </a:rPr>
              <a:t>  </a:t>
            </a:r>
            <a:r>
              <a:rPr sz="650" spc="-10" dirty="0">
                <a:latin typeface="Courier New"/>
                <a:cs typeface="Courier New"/>
              </a:rPr>
              <a:t>=========================================================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650">
              <a:latin typeface="Courier New"/>
              <a:cs typeface="Courier New"/>
            </a:endParaRPr>
          </a:p>
          <a:p>
            <a:pPr marL="12700" marR="1611630">
              <a:lnSpc>
                <a:spcPct val="105100"/>
              </a:lnSpc>
            </a:pPr>
            <a:r>
              <a:rPr sz="650" dirty="0">
                <a:latin typeface="Courier New"/>
                <a:cs typeface="Courier New"/>
              </a:rPr>
              <a:t>print("\nDataset</a:t>
            </a:r>
            <a:r>
              <a:rPr sz="650" spc="325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Information:") print(data.info())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650">
              <a:latin typeface="Courier New"/>
              <a:cs typeface="Courier New"/>
            </a:endParaRPr>
          </a:p>
          <a:p>
            <a:pPr marL="12700" marR="1870710">
              <a:lnSpc>
                <a:spcPct val="105100"/>
              </a:lnSpc>
              <a:spcBef>
                <a:spcPts val="5"/>
              </a:spcBef>
            </a:pPr>
            <a:r>
              <a:rPr sz="650" dirty="0">
                <a:latin typeface="Courier New"/>
                <a:cs typeface="Courier New"/>
              </a:rPr>
              <a:t>print("\nMissing</a:t>
            </a:r>
            <a:r>
              <a:rPr sz="650" spc="325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Values:") print(data.isnull().sum())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650">
              <a:latin typeface="Courier New"/>
              <a:cs typeface="Courier New"/>
            </a:endParaRPr>
          </a:p>
          <a:p>
            <a:pPr marL="12700" marR="160020">
              <a:lnSpc>
                <a:spcPct val="105100"/>
              </a:lnSpc>
            </a:pPr>
            <a:r>
              <a:rPr sz="650" dirty="0">
                <a:latin typeface="Courier New"/>
                <a:cs typeface="Courier New"/>
              </a:rPr>
              <a:t>#</a:t>
            </a:r>
            <a:r>
              <a:rPr sz="650" spc="3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=========================================================</a:t>
            </a:r>
            <a:r>
              <a:rPr sz="650" spc="500" dirty="0">
                <a:latin typeface="Courier New"/>
                <a:cs typeface="Courier New"/>
              </a:rPr>
              <a:t>  </a:t>
            </a:r>
            <a:r>
              <a:rPr sz="650" dirty="0">
                <a:latin typeface="Courier New"/>
                <a:cs typeface="Courier New"/>
              </a:rPr>
              <a:t>#</a:t>
            </a:r>
            <a:r>
              <a:rPr sz="650" spc="7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3.</a:t>
            </a:r>
            <a:r>
              <a:rPr sz="650" spc="7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SELECT</a:t>
            </a:r>
            <a:r>
              <a:rPr sz="650" spc="7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FEATURES</a:t>
            </a:r>
            <a:endParaRPr sz="6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650" dirty="0">
                <a:latin typeface="Courier New"/>
                <a:cs typeface="Courier New"/>
              </a:rPr>
              <a:t>#</a:t>
            </a:r>
            <a:r>
              <a:rPr sz="650" spc="325" dirty="0">
                <a:latin typeface="Courier New"/>
                <a:cs typeface="Courier New"/>
              </a:rPr>
              <a:t>  </a:t>
            </a:r>
            <a:r>
              <a:rPr sz="650" spc="-10" dirty="0">
                <a:latin typeface="Courier New"/>
                <a:cs typeface="Courier New"/>
              </a:rPr>
              <a:t>=========================================================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6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650" dirty="0">
                <a:latin typeface="Courier New"/>
                <a:cs typeface="Courier New"/>
              </a:rPr>
              <a:t>features</a:t>
            </a:r>
            <a:r>
              <a:rPr sz="650" spc="10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=</a:t>
            </a:r>
            <a:r>
              <a:rPr sz="650" spc="100" dirty="0">
                <a:latin typeface="Courier New"/>
                <a:cs typeface="Courier New"/>
              </a:rPr>
              <a:t> </a:t>
            </a:r>
            <a:r>
              <a:rPr sz="650" spc="-50" dirty="0">
                <a:latin typeface="Courier New"/>
                <a:cs typeface="Courier New"/>
              </a:rPr>
              <a:t>[</a:t>
            </a:r>
            <a:endParaRPr sz="650">
              <a:latin typeface="Courier New"/>
              <a:cs typeface="Courier New"/>
            </a:endParaRPr>
          </a:p>
          <a:p>
            <a:pPr marL="219710" marR="1974214">
              <a:lnSpc>
                <a:spcPct val="105100"/>
              </a:lnSpc>
            </a:pPr>
            <a:r>
              <a:rPr sz="650" dirty="0">
                <a:latin typeface="Courier New"/>
                <a:cs typeface="Courier New"/>
              </a:rPr>
              <a:t>"Flow</a:t>
            </a:r>
            <a:r>
              <a:rPr sz="650" spc="11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Duration", </a:t>
            </a:r>
            <a:r>
              <a:rPr sz="650" dirty="0">
                <a:latin typeface="Courier New"/>
                <a:cs typeface="Courier New"/>
              </a:rPr>
              <a:t>"Total</a:t>
            </a:r>
            <a:r>
              <a:rPr sz="650" spc="10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Fwd</a:t>
            </a:r>
            <a:r>
              <a:rPr sz="650" spc="10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Packets",</a:t>
            </a:r>
            <a:endParaRPr sz="650">
              <a:latin typeface="Courier New"/>
              <a:cs typeface="Courier New"/>
            </a:endParaRPr>
          </a:p>
          <a:p>
            <a:pPr marL="219710" marR="1456055">
              <a:lnSpc>
                <a:spcPct val="105100"/>
              </a:lnSpc>
            </a:pPr>
            <a:r>
              <a:rPr sz="650" dirty="0">
                <a:latin typeface="Courier New"/>
                <a:cs typeface="Courier New"/>
              </a:rPr>
              <a:t>"Total</a:t>
            </a:r>
            <a:r>
              <a:rPr sz="650" spc="15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Backward</a:t>
            </a:r>
            <a:r>
              <a:rPr sz="650" spc="15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Packets", </a:t>
            </a:r>
            <a:r>
              <a:rPr sz="650" dirty="0">
                <a:latin typeface="Courier New"/>
                <a:cs typeface="Courier New"/>
              </a:rPr>
              <a:t>"Total</a:t>
            </a:r>
            <a:r>
              <a:rPr sz="650" spc="9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Length</a:t>
            </a:r>
            <a:r>
              <a:rPr sz="650" spc="9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of</a:t>
            </a:r>
            <a:r>
              <a:rPr sz="650" spc="10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Fwd</a:t>
            </a:r>
            <a:r>
              <a:rPr sz="650" spc="95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Packets", </a:t>
            </a:r>
            <a:r>
              <a:rPr sz="650" dirty="0">
                <a:latin typeface="Courier New"/>
                <a:cs typeface="Courier New"/>
              </a:rPr>
              <a:t>"Total</a:t>
            </a:r>
            <a:r>
              <a:rPr sz="650" spc="9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Length</a:t>
            </a:r>
            <a:r>
              <a:rPr sz="650" spc="9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of</a:t>
            </a:r>
            <a:r>
              <a:rPr sz="650" spc="10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Bwd</a:t>
            </a:r>
            <a:r>
              <a:rPr sz="650" spc="95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Packets", </a:t>
            </a:r>
            <a:r>
              <a:rPr sz="650" dirty="0">
                <a:latin typeface="Courier New"/>
                <a:cs typeface="Courier New"/>
              </a:rPr>
              <a:t>"Flow</a:t>
            </a:r>
            <a:r>
              <a:rPr sz="650" spc="11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Bytes/s",</a:t>
            </a:r>
            <a:endParaRPr sz="650">
              <a:latin typeface="Courier New"/>
              <a:cs typeface="Courier New"/>
            </a:endParaRPr>
          </a:p>
          <a:p>
            <a:pPr marL="219710">
              <a:lnSpc>
                <a:spcPct val="100000"/>
              </a:lnSpc>
              <a:spcBef>
                <a:spcPts val="40"/>
              </a:spcBef>
            </a:pPr>
            <a:r>
              <a:rPr sz="650" dirty="0">
                <a:latin typeface="Courier New"/>
                <a:cs typeface="Courier New"/>
              </a:rPr>
              <a:t>"Flow</a:t>
            </a:r>
            <a:r>
              <a:rPr sz="650" spc="11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Packets/s",</a:t>
            </a:r>
            <a:endParaRPr sz="650">
              <a:latin typeface="Courier New"/>
              <a:cs typeface="Courier New"/>
            </a:endParaRPr>
          </a:p>
          <a:p>
            <a:pPr marL="219710" marR="1715135">
              <a:lnSpc>
                <a:spcPct val="105100"/>
              </a:lnSpc>
            </a:pPr>
            <a:r>
              <a:rPr sz="650" dirty="0">
                <a:latin typeface="Courier New"/>
                <a:cs typeface="Courier New"/>
              </a:rPr>
              <a:t>"Fwd</a:t>
            </a:r>
            <a:r>
              <a:rPr sz="650" spc="114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Packet</a:t>
            </a:r>
            <a:r>
              <a:rPr sz="650" spc="12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Length</a:t>
            </a:r>
            <a:r>
              <a:rPr sz="650" spc="12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Mean", </a:t>
            </a:r>
            <a:r>
              <a:rPr sz="650" dirty="0">
                <a:latin typeface="Courier New"/>
                <a:cs typeface="Courier New"/>
              </a:rPr>
              <a:t>"Bwd</a:t>
            </a:r>
            <a:r>
              <a:rPr sz="650" spc="114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Packet</a:t>
            </a:r>
            <a:r>
              <a:rPr sz="650" spc="12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Length</a:t>
            </a:r>
            <a:r>
              <a:rPr sz="650" spc="12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Mean"</a:t>
            </a:r>
            <a:endParaRPr sz="6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650" spc="-50" dirty="0">
                <a:latin typeface="Courier New"/>
                <a:cs typeface="Courier New"/>
              </a:rPr>
              <a:t>]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6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650" dirty="0">
                <a:latin typeface="Courier New"/>
                <a:cs typeface="Courier New"/>
              </a:rPr>
              <a:t>X</a:t>
            </a:r>
            <a:r>
              <a:rPr sz="650" spc="3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=</a:t>
            </a:r>
            <a:r>
              <a:rPr sz="650" spc="35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data[features].copy()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650">
              <a:latin typeface="Courier New"/>
              <a:cs typeface="Courier New"/>
            </a:endParaRPr>
          </a:p>
          <a:p>
            <a:pPr marL="12700" marR="1715135">
              <a:lnSpc>
                <a:spcPct val="105100"/>
              </a:lnSpc>
              <a:spcBef>
                <a:spcPts val="5"/>
              </a:spcBef>
            </a:pPr>
            <a:r>
              <a:rPr sz="650" dirty="0">
                <a:latin typeface="Courier New"/>
                <a:cs typeface="Courier New"/>
              </a:rPr>
              <a:t>print("\nSelected</a:t>
            </a:r>
            <a:r>
              <a:rPr sz="650" spc="34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Features:") print(features)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650">
              <a:latin typeface="Courier New"/>
              <a:cs typeface="Courier New"/>
            </a:endParaRPr>
          </a:p>
          <a:p>
            <a:pPr marL="12700" marR="160020">
              <a:lnSpc>
                <a:spcPct val="105100"/>
              </a:lnSpc>
            </a:pPr>
            <a:r>
              <a:rPr sz="650" dirty="0">
                <a:latin typeface="Courier New"/>
                <a:cs typeface="Courier New"/>
              </a:rPr>
              <a:t>#</a:t>
            </a:r>
            <a:r>
              <a:rPr sz="650" spc="3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=========================================================</a:t>
            </a:r>
            <a:r>
              <a:rPr sz="650" spc="500" dirty="0">
                <a:latin typeface="Courier New"/>
                <a:cs typeface="Courier New"/>
              </a:rPr>
              <a:t>  </a:t>
            </a:r>
            <a:r>
              <a:rPr sz="650" dirty="0">
                <a:latin typeface="Courier New"/>
                <a:cs typeface="Courier New"/>
              </a:rPr>
              <a:t>#</a:t>
            </a:r>
            <a:r>
              <a:rPr sz="650" spc="9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4.</a:t>
            </a:r>
            <a:r>
              <a:rPr sz="650" spc="9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HANDLE</a:t>
            </a:r>
            <a:r>
              <a:rPr sz="650" spc="9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MISSING</a:t>
            </a:r>
            <a:r>
              <a:rPr sz="650" spc="9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/</a:t>
            </a:r>
            <a:r>
              <a:rPr sz="650" spc="9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INFINITE</a:t>
            </a:r>
            <a:r>
              <a:rPr sz="650" spc="95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VALUES</a:t>
            </a:r>
            <a:endParaRPr sz="6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650" dirty="0">
                <a:latin typeface="Courier New"/>
                <a:cs typeface="Courier New"/>
              </a:rPr>
              <a:t>#</a:t>
            </a:r>
            <a:r>
              <a:rPr sz="650" spc="325" dirty="0">
                <a:latin typeface="Courier New"/>
                <a:cs typeface="Courier New"/>
              </a:rPr>
              <a:t>  </a:t>
            </a:r>
            <a:r>
              <a:rPr sz="650" spc="-10" dirty="0">
                <a:latin typeface="Courier New"/>
                <a:cs typeface="Courier New"/>
              </a:rPr>
              <a:t>=========================================================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6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650" dirty="0">
                <a:latin typeface="Courier New"/>
                <a:cs typeface="Courier New"/>
              </a:rPr>
              <a:t>X</a:t>
            </a:r>
            <a:r>
              <a:rPr sz="650" spc="15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=</a:t>
            </a:r>
            <a:r>
              <a:rPr sz="650" spc="15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X.replace([np.inf,</a:t>
            </a:r>
            <a:r>
              <a:rPr sz="650" spc="15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-np.inf],</a:t>
            </a:r>
            <a:r>
              <a:rPr sz="650" spc="155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np.nan)</a:t>
            </a:r>
            <a:endParaRPr sz="6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650" dirty="0">
                <a:latin typeface="Courier New"/>
                <a:cs typeface="Courier New"/>
              </a:rPr>
              <a:t>X</a:t>
            </a:r>
            <a:r>
              <a:rPr sz="650" spc="3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=</a:t>
            </a:r>
            <a:r>
              <a:rPr sz="650" spc="35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X.fillna(0)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6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650" dirty="0">
                <a:latin typeface="Courier New"/>
                <a:cs typeface="Courier New"/>
              </a:rPr>
              <a:t>print("\nMissing</a:t>
            </a:r>
            <a:r>
              <a:rPr sz="650" spc="20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values</a:t>
            </a:r>
            <a:r>
              <a:rPr sz="650" spc="20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handled</a:t>
            </a:r>
            <a:r>
              <a:rPr sz="650" spc="204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successfully.")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650">
              <a:latin typeface="Courier New"/>
              <a:cs typeface="Courier New"/>
            </a:endParaRPr>
          </a:p>
          <a:p>
            <a:pPr marL="12700" marR="160020">
              <a:lnSpc>
                <a:spcPct val="105100"/>
              </a:lnSpc>
            </a:pPr>
            <a:r>
              <a:rPr sz="650" dirty="0">
                <a:latin typeface="Courier New"/>
                <a:cs typeface="Courier New"/>
              </a:rPr>
              <a:t>#</a:t>
            </a:r>
            <a:r>
              <a:rPr sz="650" spc="3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=========================================================</a:t>
            </a:r>
            <a:r>
              <a:rPr sz="650" spc="500" dirty="0">
                <a:latin typeface="Courier New"/>
                <a:cs typeface="Courier New"/>
              </a:rPr>
              <a:t>  </a:t>
            </a:r>
            <a:r>
              <a:rPr sz="650" dirty="0">
                <a:latin typeface="Courier New"/>
                <a:cs typeface="Courier New"/>
              </a:rPr>
              <a:t>#</a:t>
            </a:r>
            <a:r>
              <a:rPr sz="650" spc="7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5.</a:t>
            </a:r>
            <a:r>
              <a:rPr sz="650" spc="8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FEATURE</a:t>
            </a:r>
            <a:r>
              <a:rPr sz="650" spc="8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SCALING</a:t>
            </a:r>
            <a:endParaRPr sz="6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650" dirty="0">
                <a:latin typeface="Courier New"/>
                <a:cs typeface="Courier New"/>
              </a:rPr>
              <a:t>#</a:t>
            </a:r>
            <a:r>
              <a:rPr sz="650" spc="325" dirty="0">
                <a:latin typeface="Courier New"/>
                <a:cs typeface="Courier New"/>
              </a:rPr>
              <a:t>  </a:t>
            </a:r>
            <a:r>
              <a:rPr sz="650" spc="-10" dirty="0">
                <a:latin typeface="Courier New"/>
                <a:cs typeface="Courier New"/>
              </a:rPr>
              <a:t>=========================================================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6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650" dirty="0">
                <a:latin typeface="Courier New"/>
                <a:cs typeface="Courier New"/>
              </a:rPr>
              <a:t>scaler</a:t>
            </a:r>
            <a:r>
              <a:rPr sz="650" spc="8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=</a:t>
            </a:r>
            <a:r>
              <a:rPr sz="650" spc="85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StandardScaler()</a:t>
            </a:r>
            <a:endParaRPr sz="6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650" dirty="0">
                <a:latin typeface="Courier New"/>
                <a:cs typeface="Courier New"/>
              </a:rPr>
              <a:t>X_scaled</a:t>
            </a:r>
            <a:r>
              <a:rPr sz="650" spc="10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=</a:t>
            </a:r>
            <a:r>
              <a:rPr sz="650" spc="10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scaler.fit_transform(X)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6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650" dirty="0">
                <a:latin typeface="Courier New"/>
                <a:cs typeface="Courier New"/>
              </a:rPr>
              <a:t>print("\nFeature</a:t>
            </a:r>
            <a:r>
              <a:rPr sz="650" spc="23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scaling</a:t>
            </a:r>
            <a:r>
              <a:rPr sz="650" spc="24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completed.")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650">
              <a:latin typeface="Courier New"/>
              <a:cs typeface="Courier New"/>
            </a:endParaRPr>
          </a:p>
          <a:p>
            <a:pPr marL="12700" marR="160020">
              <a:lnSpc>
                <a:spcPct val="105100"/>
              </a:lnSpc>
            </a:pPr>
            <a:r>
              <a:rPr sz="650" dirty="0">
                <a:latin typeface="Courier New"/>
                <a:cs typeface="Courier New"/>
              </a:rPr>
              <a:t>#</a:t>
            </a:r>
            <a:r>
              <a:rPr sz="650" spc="3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=========================================================</a:t>
            </a:r>
            <a:r>
              <a:rPr sz="650" spc="500" dirty="0">
                <a:latin typeface="Courier New"/>
                <a:cs typeface="Courier New"/>
              </a:rPr>
              <a:t>  </a:t>
            </a:r>
            <a:r>
              <a:rPr sz="650" dirty="0">
                <a:latin typeface="Courier New"/>
                <a:cs typeface="Courier New"/>
              </a:rPr>
              <a:t>#</a:t>
            </a:r>
            <a:r>
              <a:rPr sz="650" spc="7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6.</a:t>
            </a:r>
            <a:r>
              <a:rPr sz="650" spc="8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K-MEANS</a:t>
            </a:r>
            <a:r>
              <a:rPr sz="650" spc="8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CLUSTERING</a:t>
            </a:r>
            <a:endParaRPr sz="650">
              <a:latin typeface="Courier New"/>
              <a:cs typeface="Courier New"/>
            </a:endParaRPr>
          </a:p>
          <a:p>
            <a:pPr marL="12700" marR="160020">
              <a:lnSpc>
                <a:spcPct val="105100"/>
              </a:lnSpc>
            </a:pPr>
            <a:r>
              <a:rPr sz="650" dirty="0">
                <a:latin typeface="Courier New"/>
                <a:cs typeface="Courier New"/>
              </a:rPr>
              <a:t>#</a:t>
            </a:r>
            <a:r>
              <a:rPr sz="650" spc="3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=========================================================</a:t>
            </a:r>
            <a:r>
              <a:rPr sz="650" spc="500" dirty="0">
                <a:latin typeface="Courier New"/>
                <a:cs typeface="Courier New"/>
              </a:rPr>
              <a:t>  </a:t>
            </a:r>
            <a:r>
              <a:rPr sz="650" spc="-10" dirty="0">
                <a:latin typeface="Courier New"/>
                <a:cs typeface="Courier New"/>
              </a:rPr>
              <a:t>print("\n==========================================")</a:t>
            </a:r>
            <a:endParaRPr sz="650">
              <a:latin typeface="Courier New"/>
              <a:cs typeface="Courier New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00" y="603500"/>
            <a:ext cx="3083560" cy="93980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419100">
              <a:lnSpc>
                <a:spcPct val="105100"/>
              </a:lnSpc>
              <a:spcBef>
                <a:spcPts val="90"/>
              </a:spcBef>
            </a:pPr>
            <a:r>
              <a:rPr sz="650" dirty="0">
                <a:latin typeface="Courier New"/>
                <a:cs typeface="Courier New"/>
              </a:rPr>
              <a:t>print("</a:t>
            </a:r>
            <a:r>
              <a:rPr sz="650" spc="15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K-MEANS</a:t>
            </a:r>
            <a:r>
              <a:rPr sz="650" spc="15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CLUSTERING") print("==========================================")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650">
              <a:latin typeface="Courier New"/>
              <a:cs typeface="Courier New"/>
            </a:endParaRPr>
          </a:p>
          <a:p>
            <a:pPr marL="219710" marR="2025650" indent="-207645">
              <a:lnSpc>
                <a:spcPct val="105100"/>
              </a:lnSpc>
              <a:spcBef>
                <a:spcPts val="5"/>
              </a:spcBef>
            </a:pPr>
            <a:r>
              <a:rPr sz="650" dirty="0">
                <a:latin typeface="Courier New"/>
                <a:cs typeface="Courier New"/>
              </a:rPr>
              <a:t>kmeans</a:t>
            </a:r>
            <a:r>
              <a:rPr sz="650" spc="8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=</a:t>
            </a:r>
            <a:r>
              <a:rPr sz="650" spc="85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KMeans( n_clusters=2, random_state=42, n_init=10</a:t>
            </a:r>
            <a:endParaRPr sz="6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650" spc="-50" dirty="0">
                <a:latin typeface="Courier New"/>
                <a:cs typeface="Courier New"/>
              </a:rPr>
              <a:t>)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650">
              <a:latin typeface="Courier New"/>
              <a:cs typeface="Courier New"/>
            </a:endParaRPr>
          </a:p>
          <a:p>
            <a:pPr marL="12700" marR="782320">
              <a:lnSpc>
                <a:spcPct val="105100"/>
              </a:lnSpc>
            </a:pPr>
            <a:r>
              <a:rPr sz="650" dirty="0">
                <a:latin typeface="Courier New"/>
                <a:cs typeface="Courier New"/>
              </a:rPr>
              <a:t>kmeans_labels</a:t>
            </a:r>
            <a:r>
              <a:rPr sz="650" spc="15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=</a:t>
            </a:r>
            <a:r>
              <a:rPr sz="650" spc="15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kmeans.fit_predict(X_scaled) </a:t>
            </a:r>
            <a:r>
              <a:rPr sz="650" spc="10" dirty="0">
                <a:latin typeface="Courier New"/>
                <a:cs typeface="Courier New"/>
              </a:rPr>
              <a:t>data["KMeans_Cluster"]</a:t>
            </a:r>
            <a:r>
              <a:rPr sz="650" spc="120" dirty="0">
                <a:latin typeface="Courier New"/>
                <a:cs typeface="Courier New"/>
              </a:rPr>
              <a:t> </a:t>
            </a:r>
            <a:r>
              <a:rPr sz="650" spc="10" dirty="0">
                <a:latin typeface="Courier New"/>
                <a:cs typeface="Courier New"/>
              </a:rPr>
              <a:t>=</a:t>
            </a:r>
            <a:r>
              <a:rPr sz="650" spc="125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kmeans_labels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650">
              <a:latin typeface="Courier New"/>
              <a:cs typeface="Courier New"/>
            </a:endParaRPr>
          </a:p>
          <a:p>
            <a:pPr marL="12700" marR="782320">
              <a:lnSpc>
                <a:spcPct val="105100"/>
              </a:lnSpc>
            </a:pPr>
            <a:r>
              <a:rPr sz="650" dirty="0">
                <a:latin typeface="Courier New"/>
                <a:cs typeface="Courier New"/>
              </a:rPr>
              <a:t>print("\nK-Means</a:t>
            </a:r>
            <a:r>
              <a:rPr sz="650" spc="23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Cluster</a:t>
            </a:r>
            <a:r>
              <a:rPr sz="650" spc="24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Counts:") print(data["KMeans_Cluster"].value_counts())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650">
              <a:latin typeface="Courier New"/>
              <a:cs typeface="Courier New"/>
            </a:endParaRPr>
          </a:p>
          <a:p>
            <a:pPr marL="12700" marR="5080">
              <a:lnSpc>
                <a:spcPct val="105100"/>
              </a:lnSpc>
            </a:pPr>
            <a:r>
              <a:rPr sz="650" dirty="0">
                <a:latin typeface="Courier New"/>
                <a:cs typeface="Courier New"/>
              </a:rPr>
              <a:t>#</a:t>
            </a:r>
            <a:r>
              <a:rPr sz="650" spc="3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=========================================================</a:t>
            </a:r>
            <a:r>
              <a:rPr sz="650" spc="500" dirty="0">
                <a:latin typeface="Courier New"/>
                <a:cs typeface="Courier New"/>
              </a:rPr>
              <a:t>  </a:t>
            </a:r>
            <a:r>
              <a:rPr sz="650" dirty="0">
                <a:latin typeface="Courier New"/>
                <a:cs typeface="Courier New"/>
              </a:rPr>
              <a:t>#</a:t>
            </a:r>
            <a:r>
              <a:rPr sz="650" spc="11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7.</a:t>
            </a:r>
            <a:r>
              <a:rPr sz="650" spc="11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K-MEANS</a:t>
            </a:r>
            <a:r>
              <a:rPr sz="650" spc="114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SILHOUETTE</a:t>
            </a:r>
            <a:r>
              <a:rPr sz="650" spc="11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SCORE</a:t>
            </a:r>
            <a:endParaRPr sz="6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650" dirty="0">
                <a:latin typeface="Courier New"/>
                <a:cs typeface="Courier New"/>
              </a:rPr>
              <a:t>#</a:t>
            </a:r>
            <a:r>
              <a:rPr sz="650" spc="325" dirty="0">
                <a:latin typeface="Courier New"/>
                <a:cs typeface="Courier New"/>
              </a:rPr>
              <a:t>  </a:t>
            </a:r>
            <a:r>
              <a:rPr sz="650" spc="-10" dirty="0">
                <a:latin typeface="Courier New"/>
                <a:cs typeface="Courier New"/>
              </a:rPr>
              <a:t>=========================================================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650">
              <a:latin typeface="Courier New"/>
              <a:cs typeface="Courier New"/>
            </a:endParaRPr>
          </a:p>
          <a:p>
            <a:pPr marL="219710" marR="1403985" indent="-207645">
              <a:lnSpc>
                <a:spcPct val="105100"/>
              </a:lnSpc>
              <a:spcBef>
                <a:spcPts val="5"/>
              </a:spcBef>
            </a:pPr>
            <a:r>
              <a:rPr sz="650" dirty="0">
                <a:latin typeface="Courier New"/>
                <a:cs typeface="Courier New"/>
              </a:rPr>
              <a:t>kmeans_score</a:t>
            </a:r>
            <a:r>
              <a:rPr sz="650" spc="14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=</a:t>
            </a:r>
            <a:r>
              <a:rPr sz="650" spc="14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silhouette_score( X_scaled,</a:t>
            </a:r>
            <a:endParaRPr sz="650">
              <a:latin typeface="Courier New"/>
              <a:cs typeface="Courier New"/>
            </a:endParaRPr>
          </a:p>
          <a:p>
            <a:pPr marL="219710">
              <a:lnSpc>
                <a:spcPct val="100000"/>
              </a:lnSpc>
              <a:spcBef>
                <a:spcPts val="40"/>
              </a:spcBef>
            </a:pPr>
            <a:r>
              <a:rPr sz="650" spc="-10" dirty="0">
                <a:latin typeface="Courier New"/>
                <a:cs typeface="Courier New"/>
              </a:rPr>
              <a:t>kmeans_labels</a:t>
            </a:r>
            <a:endParaRPr sz="6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650" spc="-50" dirty="0">
                <a:latin typeface="Courier New"/>
                <a:cs typeface="Courier New"/>
              </a:rPr>
              <a:t>)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650">
              <a:latin typeface="Courier New"/>
              <a:cs typeface="Courier New"/>
            </a:endParaRPr>
          </a:p>
          <a:p>
            <a:pPr marL="12700" marR="1196975">
              <a:lnSpc>
                <a:spcPct val="105100"/>
              </a:lnSpc>
            </a:pPr>
            <a:r>
              <a:rPr sz="650" dirty="0">
                <a:latin typeface="Courier New"/>
                <a:cs typeface="Courier New"/>
              </a:rPr>
              <a:t>print("\nK-Means</a:t>
            </a:r>
            <a:r>
              <a:rPr sz="650" spc="26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Silhouette</a:t>
            </a:r>
            <a:r>
              <a:rPr sz="650" spc="265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Score:") </a:t>
            </a:r>
            <a:r>
              <a:rPr sz="650" spc="10" dirty="0">
                <a:latin typeface="Courier New"/>
                <a:cs typeface="Courier New"/>
              </a:rPr>
              <a:t>print(round(kmeans_score,</a:t>
            </a:r>
            <a:r>
              <a:rPr sz="650" spc="245" dirty="0">
                <a:latin typeface="Courier New"/>
                <a:cs typeface="Courier New"/>
              </a:rPr>
              <a:t> </a:t>
            </a:r>
            <a:r>
              <a:rPr sz="650" spc="-25" dirty="0">
                <a:latin typeface="Courier New"/>
                <a:cs typeface="Courier New"/>
              </a:rPr>
              <a:t>4))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650">
              <a:latin typeface="Courier New"/>
              <a:cs typeface="Courier New"/>
            </a:endParaRPr>
          </a:p>
          <a:p>
            <a:pPr marL="12700" marR="5080">
              <a:lnSpc>
                <a:spcPct val="105100"/>
              </a:lnSpc>
            </a:pPr>
            <a:r>
              <a:rPr sz="650" dirty="0">
                <a:latin typeface="Courier New"/>
                <a:cs typeface="Courier New"/>
              </a:rPr>
              <a:t>#</a:t>
            </a:r>
            <a:r>
              <a:rPr sz="650" spc="3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=========================================================</a:t>
            </a:r>
            <a:r>
              <a:rPr sz="650" spc="500" dirty="0">
                <a:latin typeface="Courier New"/>
                <a:cs typeface="Courier New"/>
              </a:rPr>
              <a:t>  </a:t>
            </a:r>
            <a:r>
              <a:rPr sz="650" dirty="0">
                <a:latin typeface="Courier New"/>
                <a:cs typeface="Courier New"/>
              </a:rPr>
              <a:t>#</a:t>
            </a:r>
            <a:r>
              <a:rPr sz="650" spc="7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8.</a:t>
            </a:r>
            <a:r>
              <a:rPr sz="650" spc="7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DBSCAN</a:t>
            </a:r>
            <a:r>
              <a:rPr sz="650" spc="7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CLUSTERING</a:t>
            </a:r>
            <a:endParaRPr sz="6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650" dirty="0">
                <a:latin typeface="Courier New"/>
                <a:cs typeface="Courier New"/>
              </a:rPr>
              <a:t>#</a:t>
            </a:r>
            <a:r>
              <a:rPr sz="650" spc="325" dirty="0">
                <a:latin typeface="Courier New"/>
                <a:cs typeface="Courier New"/>
              </a:rPr>
              <a:t>  </a:t>
            </a:r>
            <a:r>
              <a:rPr sz="650" spc="-10" dirty="0">
                <a:latin typeface="Courier New"/>
                <a:cs typeface="Courier New"/>
              </a:rPr>
              <a:t>=========================================================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650">
              <a:latin typeface="Courier New"/>
              <a:cs typeface="Courier New"/>
            </a:endParaRPr>
          </a:p>
          <a:p>
            <a:pPr marL="12700" marR="315595">
              <a:lnSpc>
                <a:spcPct val="105100"/>
              </a:lnSpc>
            </a:pPr>
            <a:r>
              <a:rPr sz="650" spc="-10" dirty="0">
                <a:latin typeface="Courier New"/>
                <a:cs typeface="Courier New"/>
              </a:rPr>
              <a:t>print("\n==========================================")</a:t>
            </a:r>
            <a:r>
              <a:rPr sz="650" spc="500" dirty="0">
                <a:latin typeface="Courier New"/>
                <a:cs typeface="Courier New"/>
              </a:rPr>
              <a:t>  </a:t>
            </a:r>
            <a:r>
              <a:rPr sz="650" dirty="0">
                <a:latin typeface="Courier New"/>
                <a:cs typeface="Courier New"/>
              </a:rPr>
              <a:t>print("</a:t>
            </a:r>
            <a:r>
              <a:rPr sz="650" spc="14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DBSCAN</a:t>
            </a:r>
            <a:r>
              <a:rPr sz="650" spc="14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CLUSTERING") print("==========================================")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650">
              <a:latin typeface="Courier New"/>
              <a:cs typeface="Courier New"/>
            </a:endParaRPr>
          </a:p>
          <a:p>
            <a:pPr marL="219710" marR="2181225" indent="-207645">
              <a:lnSpc>
                <a:spcPct val="105100"/>
              </a:lnSpc>
            </a:pPr>
            <a:r>
              <a:rPr sz="650" dirty="0">
                <a:latin typeface="Courier New"/>
                <a:cs typeface="Courier New"/>
              </a:rPr>
              <a:t>dbscan</a:t>
            </a:r>
            <a:r>
              <a:rPr sz="650" spc="8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=</a:t>
            </a:r>
            <a:r>
              <a:rPr sz="650" spc="85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DBSCAN( eps=1.5, min_samples=5</a:t>
            </a:r>
            <a:endParaRPr sz="6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650" spc="-50" dirty="0">
                <a:latin typeface="Courier New"/>
                <a:cs typeface="Courier New"/>
              </a:rPr>
              <a:t>)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650">
              <a:latin typeface="Courier New"/>
              <a:cs typeface="Courier New"/>
            </a:endParaRPr>
          </a:p>
          <a:p>
            <a:pPr marL="12700" marR="782320">
              <a:lnSpc>
                <a:spcPct val="105100"/>
              </a:lnSpc>
              <a:spcBef>
                <a:spcPts val="5"/>
              </a:spcBef>
            </a:pPr>
            <a:r>
              <a:rPr sz="650" dirty="0">
                <a:latin typeface="Courier New"/>
                <a:cs typeface="Courier New"/>
              </a:rPr>
              <a:t>dbscan_labels</a:t>
            </a:r>
            <a:r>
              <a:rPr sz="650" spc="15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=</a:t>
            </a:r>
            <a:r>
              <a:rPr sz="650" spc="15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dbscan.fit_predict(X_scaled) </a:t>
            </a:r>
            <a:r>
              <a:rPr sz="650" spc="10" dirty="0">
                <a:latin typeface="Courier New"/>
                <a:cs typeface="Courier New"/>
              </a:rPr>
              <a:t>data["DBSCAN_Cluster"]</a:t>
            </a:r>
            <a:r>
              <a:rPr sz="650" spc="120" dirty="0">
                <a:latin typeface="Courier New"/>
                <a:cs typeface="Courier New"/>
              </a:rPr>
              <a:t> </a:t>
            </a:r>
            <a:r>
              <a:rPr sz="650" spc="10" dirty="0">
                <a:latin typeface="Courier New"/>
                <a:cs typeface="Courier New"/>
              </a:rPr>
              <a:t>=</a:t>
            </a:r>
            <a:r>
              <a:rPr sz="650" spc="125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dbscan_labels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650">
              <a:latin typeface="Courier New"/>
              <a:cs typeface="Courier New"/>
            </a:endParaRPr>
          </a:p>
          <a:p>
            <a:pPr marL="12700" marR="782320">
              <a:lnSpc>
                <a:spcPct val="105100"/>
              </a:lnSpc>
            </a:pPr>
            <a:r>
              <a:rPr sz="650" dirty="0">
                <a:latin typeface="Courier New"/>
                <a:cs typeface="Courier New"/>
              </a:rPr>
              <a:t>print("\nDBSCAN</a:t>
            </a:r>
            <a:r>
              <a:rPr sz="650" spc="22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Cluster</a:t>
            </a:r>
            <a:r>
              <a:rPr sz="650" spc="229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Counts:") print(data["DBSCAN_Cluster"].value_counts())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650">
              <a:latin typeface="Courier New"/>
              <a:cs typeface="Courier New"/>
            </a:endParaRPr>
          </a:p>
          <a:p>
            <a:pPr marL="12700" marR="5080">
              <a:lnSpc>
                <a:spcPct val="105100"/>
              </a:lnSpc>
            </a:pPr>
            <a:r>
              <a:rPr sz="650" dirty="0">
                <a:latin typeface="Courier New"/>
                <a:cs typeface="Courier New"/>
              </a:rPr>
              <a:t>#</a:t>
            </a:r>
            <a:r>
              <a:rPr sz="650" spc="3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=========================================================</a:t>
            </a:r>
            <a:r>
              <a:rPr sz="650" spc="500" dirty="0">
                <a:latin typeface="Courier New"/>
                <a:cs typeface="Courier New"/>
              </a:rPr>
              <a:t>  </a:t>
            </a:r>
            <a:r>
              <a:rPr sz="650" dirty="0">
                <a:latin typeface="Courier New"/>
                <a:cs typeface="Courier New"/>
              </a:rPr>
              <a:t>#</a:t>
            </a:r>
            <a:r>
              <a:rPr sz="650" spc="8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9.</a:t>
            </a:r>
            <a:r>
              <a:rPr sz="650" spc="8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COUNT</a:t>
            </a:r>
            <a:r>
              <a:rPr sz="650" spc="8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DBSCAN</a:t>
            </a:r>
            <a:r>
              <a:rPr sz="650" spc="85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OUTLIERS</a:t>
            </a:r>
            <a:endParaRPr sz="6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650" dirty="0">
                <a:latin typeface="Courier New"/>
                <a:cs typeface="Courier New"/>
              </a:rPr>
              <a:t>#</a:t>
            </a:r>
            <a:r>
              <a:rPr sz="650" spc="325" dirty="0">
                <a:latin typeface="Courier New"/>
                <a:cs typeface="Courier New"/>
              </a:rPr>
              <a:t>  </a:t>
            </a:r>
            <a:r>
              <a:rPr sz="650" spc="-10" dirty="0">
                <a:latin typeface="Courier New"/>
                <a:cs typeface="Courier New"/>
              </a:rPr>
              <a:t>=========================================================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6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650" spc="10" dirty="0">
                <a:latin typeface="Courier New"/>
                <a:cs typeface="Courier New"/>
              </a:rPr>
              <a:t>outliers</a:t>
            </a:r>
            <a:r>
              <a:rPr sz="650" spc="105" dirty="0">
                <a:latin typeface="Courier New"/>
                <a:cs typeface="Courier New"/>
              </a:rPr>
              <a:t> </a:t>
            </a:r>
            <a:r>
              <a:rPr sz="650" spc="10" dirty="0">
                <a:latin typeface="Courier New"/>
                <a:cs typeface="Courier New"/>
              </a:rPr>
              <a:t>=</a:t>
            </a:r>
            <a:r>
              <a:rPr sz="650" spc="105" dirty="0">
                <a:latin typeface="Courier New"/>
                <a:cs typeface="Courier New"/>
              </a:rPr>
              <a:t> </a:t>
            </a:r>
            <a:r>
              <a:rPr sz="650" spc="10" dirty="0">
                <a:latin typeface="Courier New"/>
                <a:cs typeface="Courier New"/>
              </a:rPr>
              <a:t>data[data["DBSCAN_Cluster"]</a:t>
            </a:r>
            <a:r>
              <a:rPr sz="650" spc="105" dirty="0">
                <a:latin typeface="Courier New"/>
                <a:cs typeface="Courier New"/>
              </a:rPr>
              <a:t> </a:t>
            </a:r>
            <a:r>
              <a:rPr sz="650" spc="10" dirty="0">
                <a:latin typeface="Courier New"/>
                <a:cs typeface="Courier New"/>
              </a:rPr>
              <a:t>==</a:t>
            </a:r>
            <a:r>
              <a:rPr sz="650" spc="110" dirty="0">
                <a:latin typeface="Courier New"/>
                <a:cs typeface="Courier New"/>
              </a:rPr>
              <a:t> </a:t>
            </a:r>
            <a:r>
              <a:rPr sz="650" spc="10" dirty="0">
                <a:latin typeface="Courier New"/>
                <a:cs typeface="Courier New"/>
              </a:rPr>
              <a:t>-</a:t>
            </a:r>
            <a:r>
              <a:rPr sz="650" spc="-25" dirty="0">
                <a:latin typeface="Courier New"/>
                <a:cs typeface="Courier New"/>
              </a:rPr>
              <a:t>1]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650">
              <a:latin typeface="Courier New"/>
              <a:cs typeface="Courier New"/>
            </a:endParaRPr>
          </a:p>
          <a:p>
            <a:pPr marL="12700" marR="1144905">
              <a:lnSpc>
                <a:spcPct val="105100"/>
              </a:lnSpc>
              <a:spcBef>
                <a:spcPts val="5"/>
              </a:spcBef>
            </a:pPr>
            <a:r>
              <a:rPr sz="650" dirty="0">
                <a:latin typeface="Courier New"/>
                <a:cs typeface="Courier New"/>
              </a:rPr>
              <a:t>print("\nNumber</a:t>
            </a:r>
            <a:r>
              <a:rPr sz="650" spc="16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of</a:t>
            </a:r>
            <a:r>
              <a:rPr sz="650" spc="16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DBSCAN</a:t>
            </a:r>
            <a:r>
              <a:rPr sz="650" spc="165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outliers:") print(len(outliers))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650">
              <a:latin typeface="Courier New"/>
              <a:cs typeface="Courier New"/>
            </a:endParaRPr>
          </a:p>
          <a:p>
            <a:pPr marL="12700" marR="5080">
              <a:lnSpc>
                <a:spcPct val="105100"/>
              </a:lnSpc>
            </a:pPr>
            <a:r>
              <a:rPr sz="650" dirty="0">
                <a:latin typeface="Courier New"/>
                <a:cs typeface="Courier New"/>
              </a:rPr>
              <a:t>#</a:t>
            </a:r>
            <a:r>
              <a:rPr sz="650" spc="3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=========================================================</a:t>
            </a:r>
            <a:r>
              <a:rPr sz="650" spc="500" dirty="0">
                <a:latin typeface="Courier New"/>
                <a:cs typeface="Courier New"/>
              </a:rPr>
              <a:t>  </a:t>
            </a:r>
            <a:r>
              <a:rPr sz="650" dirty="0">
                <a:latin typeface="Courier New"/>
                <a:cs typeface="Courier New"/>
              </a:rPr>
              <a:t>#</a:t>
            </a:r>
            <a:r>
              <a:rPr sz="650" spc="6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10.</a:t>
            </a:r>
            <a:r>
              <a:rPr sz="650" spc="6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PCA</a:t>
            </a:r>
            <a:r>
              <a:rPr sz="650" spc="6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FOR</a:t>
            </a:r>
            <a:r>
              <a:rPr sz="650" spc="6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VISUALIZATION</a:t>
            </a:r>
            <a:endParaRPr sz="6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650" dirty="0">
                <a:latin typeface="Courier New"/>
                <a:cs typeface="Courier New"/>
              </a:rPr>
              <a:t>#</a:t>
            </a:r>
            <a:r>
              <a:rPr sz="650" spc="325" dirty="0">
                <a:latin typeface="Courier New"/>
                <a:cs typeface="Courier New"/>
              </a:rPr>
              <a:t>  </a:t>
            </a:r>
            <a:r>
              <a:rPr sz="650" spc="-10" dirty="0">
                <a:latin typeface="Courier New"/>
                <a:cs typeface="Courier New"/>
              </a:rPr>
              <a:t>=========================================================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6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650" dirty="0">
                <a:latin typeface="Courier New"/>
                <a:cs typeface="Courier New"/>
              </a:rPr>
              <a:t>pca</a:t>
            </a:r>
            <a:r>
              <a:rPr sz="650" spc="5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=</a:t>
            </a:r>
            <a:r>
              <a:rPr sz="650" spc="55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PCA(n_components=2)</a:t>
            </a:r>
            <a:endParaRPr sz="6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650" dirty="0">
                <a:latin typeface="Courier New"/>
                <a:cs typeface="Courier New"/>
              </a:rPr>
              <a:t>X_pca</a:t>
            </a:r>
            <a:r>
              <a:rPr sz="650" spc="12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=</a:t>
            </a:r>
            <a:r>
              <a:rPr sz="650" spc="12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pca.fit_transform(X_scaled)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6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650" dirty="0">
                <a:latin typeface="Courier New"/>
                <a:cs typeface="Courier New"/>
              </a:rPr>
              <a:t>print("\nPCA</a:t>
            </a:r>
            <a:r>
              <a:rPr sz="650" spc="245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completed.")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650">
              <a:latin typeface="Courier New"/>
              <a:cs typeface="Courier New"/>
            </a:endParaRPr>
          </a:p>
          <a:p>
            <a:pPr marL="12700" marR="5080">
              <a:lnSpc>
                <a:spcPct val="105100"/>
              </a:lnSpc>
              <a:spcBef>
                <a:spcPts val="5"/>
              </a:spcBef>
            </a:pPr>
            <a:r>
              <a:rPr sz="650" dirty="0">
                <a:latin typeface="Courier New"/>
                <a:cs typeface="Courier New"/>
              </a:rPr>
              <a:t>#</a:t>
            </a:r>
            <a:r>
              <a:rPr sz="650" spc="3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=========================================================</a:t>
            </a:r>
            <a:r>
              <a:rPr sz="650" spc="500" dirty="0">
                <a:latin typeface="Courier New"/>
                <a:cs typeface="Courier New"/>
              </a:rPr>
              <a:t>  </a:t>
            </a:r>
            <a:r>
              <a:rPr sz="650" dirty="0">
                <a:latin typeface="Courier New"/>
                <a:cs typeface="Courier New"/>
              </a:rPr>
              <a:t>#</a:t>
            </a:r>
            <a:r>
              <a:rPr sz="650" spc="8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11.</a:t>
            </a:r>
            <a:r>
              <a:rPr sz="650" spc="8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K-MEANS</a:t>
            </a:r>
            <a:r>
              <a:rPr sz="650" spc="85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VISUALIZATION</a:t>
            </a:r>
            <a:endParaRPr sz="6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650" dirty="0">
                <a:latin typeface="Courier New"/>
                <a:cs typeface="Courier New"/>
              </a:rPr>
              <a:t>#</a:t>
            </a:r>
            <a:r>
              <a:rPr sz="650" spc="325" dirty="0">
                <a:latin typeface="Courier New"/>
                <a:cs typeface="Courier New"/>
              </a:rPr>
              <a:t>  </a:t>
            </a:r>
            <a:r>
              <a:rPr sz="650" spc="-10" dirty="0">
                <a:latin typeface="Courier New"/>
                <a:cs typeface="Courier New"/>
              </a:rPr>
              <a:t>=========================================================</a:t>
            </a:r>
            <a:endParaRPr sz="650">
              <a:latin typeface="Courier New"/>
              <a:cs typeface="Courier New"/>
            </a:endParaRPr>
          </a:p>
          <a:p>
            <a:pPr marL="12700" marR="1715135">
              <a:lnSpc>
                <a:spcPct val="210300"/>
              </a:lnSpc>
            </a:pPr>
            <a:r>
              <a:rPr sz="650" spc="10" dirty="0">
                <a:latin typeface="Courier New"/>
                <a:cs typeface="Courier New"/>
              </a:rPr>
              <a:t>plt.figure(figsize=(8,</a:t>
            </a:r>
            <a:r>
              <a:rPr sz="650" spc="220" dirty="0">
                <a:latin typeface="Courier New"/>
                <a:cs typeface="Courier New"/>
              </a:rPr>
              <a:t> </a:t>
            </a:r>
            <a:r>
              <a:rPr sz="650" spc="-25" dirty="0">
                <a:latin typeface="Courier New"/>
                <a:cs typeface="Courier New"/>
              </a:rPr>
              <a:t>6)) </a:t>
            </a:r>
            <a:r>
              <a:rPr sz="650" spc="-10" dirty="0">
                <a:latin typeface="Courier New"/>
                <a:cs typeface="Courier New"/>
              </a:rPr>
              <a:t>plt.scatter(</a:t>
            </a:r>
            <a:endParaRPr sz="650">
              <a:latin typeface="Courier New"/>
              <a:cs typeface="Courier New"/>
            </a:endParaRPr>
          </a:p>
          <a:p>
            <a:pPr marL="219710">
              <a:lnSpc>
                <a:spcPct val="100000"/>
              </a:lnSpc>
              <a:spcBef>
                <a:spcPts val="40"/>
              </a:spcBef>
            </a:pPr>
            <a:r>
              <a:rPr sz="650" dirty="0">
                <a:latin typeface="Courier New"/>
                <a:cs typeface="Courier New"/>
              </a:rPr>
              <a:t>X_pca[:,</a:t>
            </a:r>
            <a:r>
              <a:rPr sz="650" spc="170" dirty="0">
                <a:latin typeface="Courier New"/>
                <a:cs typeface="Courier New"/>
              </a:rPr>
              <a:t> </a:t>
            </a:r>
            <a:r>
              <a:rPr sz="650" spc="-25" dirty="0">
                <a:latin typeface="Courier New"/>
                <a:cs typeface="Courier New"/>
              </a:rPr>
              <a:t>0],</a:t>
            </a:r>
            <a:endParaRPr sz="650">
              <a:latin typeface="Courier New"/>
              <a:cs typeface="Courier New"/>
            </a:endParaRPr>
          </a:p>
          <a:p>
            <a:pPr marL="219710" marR="2025650">
              <a:lnSpc>
                <a:spcPct val="105100"/>
              </a:lnSpc>
            </a:pPr>
            <a:r>
              <a:rPr sz="650" dirty="0">
                <a:latin typeface="Courier New"/>
                <a:cs typeface="Courier New"/>
              </a:rPr>
              <a:t>X_pca[:,</a:t>
            </a:r>
            <a:r>
              <a:rPr sz="650" spc="170" dirty="0">
                <a:latin typeface="Courier New"/>
                <a:cs typeface="Courier New"/>
              </a:rPr>
              <a:t> </a:t>
            </a:r>
            <a:r>
              <a:rPr sz="650" spc="-25" dirty="0">
                <a:latin typeface="Courier New"/>
                <a:cs typeface="Courier New"/>
              </a:rPr>
              <a:t>1], </a:t>
            </a:r>
            <a:r>
              <a:rPr sz="650" spc="-10" dirty="0">
                <a:latin typeface="Courier New"/>
                <a:cs typeface="Courier New"/>
              </a:rPr>
              <a:t>c=kmeans_labels, </a:t>
            </a:r>
            <a:r>
              <a:rPr sz="650" spc="-20" dirty="0">
                <a:latin typeface="Courier New"/>
                <a:cs typeface="Courier New"/>
              </a:rPr>
              <a:t>s=30</a:t>
            </a:r>
            <a:endParaRPr sz="6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650" spc="-50" dirty="0">
                <a:latin typeface="Courier New"/>
                <a:cs typeface="Courier New"/>
              </a:rPr>
              <a:t>)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650">
              <a:latin typeface="Courier New"/>
              <a:cs typeface="Courier New"/>
            </a:endParaRPr>
          </a:p>
          <a:p>
            <a:pPr marL="12700" marR="471170">
              <a:lnSpc>
                <a:spcPct val="105100"/>
              </a:lnSpc>
            </a:pPr>
            <a:r>
              <a:rPr sz="650" dirty="0">
                <a:latin typeface="Courier New"/>
                <a:cs typeface="Courier New"/>
              </a:rPr>
              <a:t>plt.title("K-Means</a:t>
            </a:r>
            <a:r>
              <a:rPr sz="650" spc="19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Clustering</a:t>
            </a:r>
            <a:r>
              <a:rPr sz="650" spc="19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of</a:t>
            </a:r>
            <a:r>
              <a:rPr sz="650" spc="19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Network</a:t>
            </a:r>
            <a:r>
              <a:rPr sz="650" spc="195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Traffic") </a:t>
            </a:r>
            <a:r>
              <a:rPr sz="650" spc="10" dirty="0">
                <a:latin typeface="Courier New"/>
                <a:cs typeface="Courier New"/>
              </a:rPr>
              <a:t>plt.xlabel("Principal</a:t>
            </a:r>
            <a:r>
              <a:rPr sz="650" spc="155" dirty="0">
                <a:latin typeface="Courier New"/>
                <a:cs typeface="Courier New"/>
              </a:rPr>
              <a:t> </a:t>
            </a:r>
            <a:r>
              <a:rPr sz="650" spc="10" dirty="0">
                <a:latin typeface="Courier New"/>
                <a:cs typeface="Courier New"/>
              </a:rPr>
              <a:t>Component</a:t>
            </a:r>
            <a:r>
              <a:rPr sz="650" spc="155" dirty="0">
                <a:latin typeface="Courier New"/>
                <a:cs typeface="Courier New"/>
              </a:rPr>
              <a:t> </a:t>
            </a:r>
            <a:r>
              <a:rPr sz="650" spc="-25" dirty="0">
                <a:latin typeface="Courier New"/>
                <a:cs typeface="Courier New"/>
              </a:rPr>
              <a:t>1")</a:t>
            </a:r>
            <a:endParaRPr sz="6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650" spc="10" dirty="0">
                <a:latin typeface="Courier New"/>
                <a:cs typeface="Courier New"/>
              </a:rPr>
              <a:t>plt.ylabel("Principal</a:t>
            </a:r>
            <a:r>
              <a:rPr sz="650" spc="155" dirty="0">
                <a:latin typeface="Courier New"/>
                <a:cs typeface="Courier New"/>
              </a:rPr>
              <a:t> </a:t>
            </a:r>
            <a:r>
              <a:rPr sz="650" spc="10" dirty="0">
                <a:latin typeface="Courier New"/>
                <a:cs typeface="Courier New"/>
              </a:rPr>
              <a:t>Component</a:t>
            </a:r>
            <a:r>
              <a:rPr sz="650" spc="155" dirty="0">
                <a:latin typeface="Courier New"/>
                <a:cs typeface="Courier New"/>
              </a:rPr>
              <a:t> </a:t>
            </a:r>
            <a:r>
              <a:rPr sz="650" spc="-25" dirty="0">
                <a:latin typeface="Courier New"/>
                <a:cs typeface="Courier New"/>
              </a:rPr>
              <a:t>2")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6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650" spc="-10" dirty="0">
                <a:latin typeface="Courier New"/>
                <a:cs typeface="Courier New"/>
              </a:rPr>
              <a:t>plt.show()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650">
              <a:latin typeface="Courier New"/>
              <a:cs typeface="Courier New"/>
            </a:endParaRPr>
          </a:p>
          <a:p>
            <a:pPr marL="12700" marR="5080">
              <a:lnSpc>
                <a:spcPct val="105100"/>
              </a:lnSpc>
            </a:pPr>
            <a:r>
              <a:rPr sz="650" dirty="0">
                <a:latin typeface="Courier New"/>
                <a:cs typeface="Courier New"/>
              </a:rPr>
              <a:t>#</a:t>
            </a:r>
            <a:r>
              <a:rPr sz="650" spc="3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=========================================================</a:t>
            </a:r>
            <a:r>
              <a:rPr sz="650" spc="500" dirty="0">
                <a:latin typeface="Courier New"/>
                <a:cs typeface="Courier New"/>
              </a:rPr>
              <a:t>  </a:t>
            </a:r>
            <a:r>
              <a:rPr sz="650" dirty="0">
                <a:latin typeface="Courier New"/>
                <a:cs typeface="Courier New"/>
              </a:rPr>
              <a:t>#</a:t>
            </a:r>
            <a:r>
              <a:rPr sz="650" spc="7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12.</a:t>
            </a:r>
            <a:r>
              <a:rPr sz="650" spc="8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DBSCAN</a:t>
            </a:r>
            <a:r>
              <a:rPr sz="650" spc="8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VISUALIZATION</a:t>
            </a:r>
            <a:endParaRPr sz="6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650" dirty="0">
                <a:latin typeface="Courier New"/>
                <a:cs typeface="Courier New"/>
              </a:rPr>
              <a:t>#</a:t>
            </a:r>
            <a:r>
              <a:rPr sz="650" spc="325" dirty="0">
                <a:latin typeface="Courier New"/>
                <a:cs typeface="Courier New"/>
              </a:rPr>
              <a:t>  </a:t>
            </a:r>
            <a:r>
              <a:rPr sz="650" spc="-10" dirty="0">
                <a:latin typeface="Courier New"/>
                <a:cs typeface="Courier New"/>
              </a:rPr>
              <a:t>=========================================================</a:t>
            </a:r>
            <a:endParaRPr sz="650">
              <a:latin typeface="Courier New"/>
              <a:cs typeface="Courier New"/>
            </a:endParaRPr>
          </a:p>
          <a:p>
            <a:pPr marL="12700" marR="1715135">
              <a:lnSpc>
                <a:spcPct val="210300"/>
              </a:lnSpc>
            </a:pPr>
            <a:r>
              <a:rPr sz="650" spc="10" dirty="0">
                <a:latin typeface="Courier New"/>
                <a:cs typeface="Courier New"/>
              </a:rPr>
              <a:t>plt.figure(figsize=(8,</a:t>
            </a:r>
            <a:r>
              <a:rPr sz="650" spc="220" dirty="0">
                <a:latin typeface="Courier New"/>
                <a:cs typeface="Courier New"/>
              </a:rPr>
              <a:t> </a:t>
            </a:r>
            <a:r>
              <a:rPr sz="650" spc="-25" dirty="0">
                <a:latin typeface="Courier New"/>
                <a:cs typeface="Courier New"/>
              </a:rPr>
              <a:t>6)) </a:t>
            </a:r>
            <a:r>
              <a:rPr sz="650" spc="-10" dirty="0">
                <a:latin typeface="Courier New"/>
                <a:cs typeface="Courier New"/>
              </a:rPr>
              <a:t>plt.scatter(</a:t>
            </a:r>
            <a:endParaRPr sz="650">
              <a:latin typeface="Courier New"/>
              <a:cs typeface="Courier New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00" y="603499"/>
            <a:ext cx="3083560" cy="74193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19710">
              <a:lnSpc>
                <a:spcPct val="100000"/>
              </a:lnSpc>
              <a:spcBef>
                <a:spcPts val="130"/>
              </a:spcBef>
            </a:pPr>
            <a:r>
              <a:rPr sz="650" dirty="0">
                <a:latin typeface="Courier New"/>
                <a:cs typeface="Courier New"/>
              </a:rPr>
              <a:t>X_pca[:,</a:t>
            </a:r>
            <a:r>
              <a:rPr sz="650" spc="170" dirty="0">
                <a:latin typeface="Courier New"/>
                <a:cs typeface="Courier New"/>
              </a:rPr>
              <a:t> </a:t>
            </a:r>
            <a:r>
              <a:rPr sz="650" spc="-25" dirty="0">
                <a:latin typeface="Courier New"/>
                <a:cs typeface="Courier New"/>
              </a:rPr>
              <a:t>0],</a:t>
            </a:r>
            <a:endParaRPr sz="650">
              <a:latin typeface="Courier New"/>
              <a:cs typeface="Courier New"/>
            </a:endParaRPr>
          </a:p>
          <a:p>
            <a:pPr marL="219710" marR="2025650">
              <a:lnSpc>
                <a:spcPct val="105100"/>
              </a:lnSpc>
            </a:pPr>
            <a:r>
              <a:rPr sz="650" dirty="0">
                <a:latin typeface="Courier New"/>
                <a:cs typeface="Courier New"/>
              </a:rPr>
              <a:t>X_pca[:,</a:t>
            </a:r>
            <a:r>
              <a:rPr sz="650" spc="170" dirty="0">
                <a:latin typeface="Courier New"/>
                <a:cs typeface="Courier New"/>
              </a:rPr>
              <a:t> </a:t>
            </a:r>
            <a:r>
              <a:rPr sz="650" spc="-25" dirty="0">
                <a:latin typeface="Courier New"/>
                <a:cs typeface="Courier New"/>
              </a:rPr>
              <a:t>1], </a:t>
            </a:r>
            <a:r>
              <a:rPr sz="650" spc="-10" dirty="0">
                <a:latin typeface="Courier New"/>
                <a:cs typeface="Courier New"/>
              </a:rPr>
              <a:t>c=dbscan_labels, </a:t>
            </a:r>
            <a:r>
              <a:rPr sz="650" spc="-20" dirty="0">
                <a:latin typeface="Courier New"/>
                <a:cs typeface="Courier New"/>
              </a:rPr>
              <a:t>s=30</a:t>
            </a:r>
            <a:endParaRPr sz="6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650" spc="-50" dirty="0">
                <a:latin typeface="Courier New"/>
                <a:cs typeface="Courier New"/>
              </a:rPr>
              <a:t>)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650">
              <a:latin typeface="Courier New"/>
              <a:cs typeface="Courier New"/>
            </a:endParaRPr>
          </a:p>
          <a:p>
            <a:pPr marL="12700" marR="523240">
              <a:lnSpc>
                <a:spcPct val="105100"/>
              </a:lnSpc>
              <a:spcBef>
                <a:spcPts val="5"/>
              </a:spcBef>
            </a:pPr>
            <a:r>
              <a:rPr sz="650" dirty="0">
                <a:latin typeface="Courier New"/>
                <a:cs typeface="Courier New"/>
              </a:rPr>
              <a:t>plt.title("DBSCAN</a:t>
            </a:r>
            <a:r>
              <a:rPr sz="650" spc="18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Clustering</a:t>
            </a:r>
            <a:r>
              <a:rPr sz="650" spc="19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of</a:t>
            </a:r>
            <a:r>
              <a:rPr sz="650" spc="19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Network</a:t>
            </a:r>
            <a:r>
              <a:rPr sz="650" spc="19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Traffic") </a:t>
            </a:r>
            <a:r>
              <a:rPr sz="650" spc="10" dirty="0">
                <a:latin typeface="Courier New"/>
                <a:cs typeface="Courier New"/>
              </a:rPr>
              <a:t>plt.xlabel("Principal</a:t>
            </a:r>
            <a:r>
              <a:rPr sz="650" spc="155" dirty="0">
                <a:latin typeface="Courier New"/>
                <a:cs typeface="Courier New"/>
              </a:rPr>
              <a:t> </a:t>
            </a:r>
            <a:r>
              <a:rPr sz="650" spc="10" dirty="0">
                <a:latin typeface="Courier New"/>
                <a:cs typeface="Courier New"/>
              </a:rPr>
              <a:t>Component</a:t>
            </a:r>
            <a:r>
              <a:rPr sz="650" spc="155" dirty="0">
                <a:latin typeface="Courier New"/>
                <a:cs typeface="Courier New"/>
              </a:rPr>
              <a:t> </a:t>
            </a:r>
            <a:r>
              <a:rPr sz="650" spc="-25" dirty="0">
                <a:latin typeface="Courier New"/>
                <a:cs typeface="Courier New"/>
              </a:rPr>
              <a:t>1")</a:t>
            </a:r>
            <a:endParaRPr sz="6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650" spc="10" dirty="0">
                <a:latin typeface="Courier New"/>
                <a:cs typeface="Courier New"/>
              </a:rPr>
              <a:t>plt.ylabel("Principal</a:t>
            </a:r>
            <a:r>
              <a:rPr sz="650" spc="155" dirty="0">
                <a:latin typeface="Courier New"/>
                <a:cs typeface="Courier New"/>
              </a:rPr>
              <a:t> </a:t>
            </a:r>
            <a:r>
              <a:rPr sz="650" spc="10" dirty="0">
                <a:latin typeface="Courier New"/>
                <a:cs typeface="Courier New"/>
              </a:rPr>
              <a:t>Component</a:t>
            </a:r>
            <a:r>
              <a:rPr sz="650" spc="155" dirty="0">
                <a:latin typeface="Courier New"/>
                <a:cs typeface="Courier New"/>
              </a:rPr>
              <a:t> </a:t>
            </a:r>
            <a:r>
              <a:rPr sz="650" spc="-25" dirty="0">
                <a:latin typeface="Courier New"/>
                <a:cs typeface="Courier New"/>
              </a:rPr>
              <a:t>2")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6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650" spc="-10" dirty="0">
                <a:latin typeface="Courier New"/>
                <a:cs typeface="Courier New"/>
              </a:rPr>
              <a:t>plt.show()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650">
              <a:latin typeface="Courier New"/>
              <a:cs typeface="Courier New"/>
            </a:endParaRPr>
          </a:p>
          <a:p>
            <a:pPr marL="12700" marR="5080">
              <a:lnSpc>
                <a:spcPct val="105100"/>
              </a:lnSpc>
            </a:pPr>
            <a:r>
              <a:rPr sz="650" dirty="0">
                <a:latin typeface="Courier New"/>
                <a:cs typeface="Courier New"/>
              </a:rPr>
              <a:t>#</a:t>
            </a:r>
            <a:r>
              <a:rPr sz="650" spc="3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=========================================================</a:t>
            </a:r>
            <a:r>
              <a:rPr sz="650" spc="500" dirty="0">
                <a:latin typeface="Courier New"/>
                <a:cs typeface="Courier New"/>
              </a:rPr>
              <a:t>  </a:t>
            </a:r>
            <a:r>
              <a:rPr sz="650" dirty="0">
                <a:latin typeface="Courier New"/>
                <a:cs typeface="Courier New"/>
              </a:rPr>
              <a:t>#</a:t>
            </a:r>
            <a:r>
              <a:rPr sz="650" spc="10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13.</a:t>
            </a:r>
            <a:r>
              <a:rPr sz="650" spc="11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COMPARE</a:t>
            </a:r>
            <a:r>
              <a:rPr sz="650" spc="11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CLUSTERS</a:t>
            </a:r>
            <a:r>
              <a:rPr sz="650" spc="10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WITH</a:t>
            </a:r>
            <a:r>
              <a:rPr sz="650" spc="11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ACTUAL</a:t>
            </a:r>
            <a:r>
              <a:rPr sz="650" spc="11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LABEL</a:t>
            </a:r>
            <a:endParaRPr sz="6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650" dirty="0">
                <a:latin typeface="Courier New"/>
                <a:cs typeface="Courier New"/>
              </a:rPr>
              <a:t>#</a:t>
            </a:r>
            <a:r>
              <a:rPr sz="650" spc="325" dirty="0">
                <a:latin typeface="Courier New"/>
                <a:cs typeface="Courier New"/>
              </a:rPr>
              <a:t>  </a:t>
            </a:r>
            <a:r>
              <a:rPr sz="650" spc="-10" dirty="0">
                <a:latin typeface="Courier New"/>
                <a:cs typeface="Courier New"/>
              </a:rPr>
              <a:t>=========================================================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650">
              <a:latin typeface="Courier New"/>
              <a:cs typeface="Courier New"/>
            </a:endParaRPr>
          </a:p>
          <a:p>
            <a:pPr marL="12700" marR="315595">
              <a:lnSpc>
                <a:spcPct val="105100"/>
              </a:lnSpc>
            </a:pPr>
            <a:r>
              <a:rPr sz="650" spc="-10" dirty="0">
                <a:latin typeface="Courier New"/>
                <a:cs typeface="Courier New"/>
              </a:rPr>
              <a:t>print("\n==========================================")</a:t>
            </a:r>
            <a:r>
              <a:rPr sz="650" spc="500" dirty="0">
                <a:latin typeface="Courier New"/>
                <a:cs typeface="Courier New"/>
              </a:rPr>
              <a:t>  </a:t>
            </a:r>
            <a:r>
              <a:rPr sz="650" dirty="0">
                <a:latin typeface="Courier New"/>
                <a:cs typeface="Courier New"/>
              </a:rPr>
              <a:t>print("</a:t>
            </a:r>
            <a:r>
              <a:rPr sz="650" spc="14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COMPARISON</a:t>
            </a:r>
            <a:r>
              <a:rPr sz="650" spc="14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WITH</a:t>
            </a:r>
            <a:r>
              <a:rPr sz="650" spc="14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ACTUAL</a:t>
            </a:r>
            <a:r>
              <a:rPr sz="650" spc="145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LABEL") print("==========================================")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650">
              <a:latin typeface="Courier New"/>
              <a:cs typeface="Courier New"/>
            </a:endParaRPr>
          </a:p>
          <a:p>
            <a:pPr marL="219710" marR="1248410" indent="-207645">
              <a:lnSpc>
                <a:spcPct val="105100"/>
              </a:lnSpc>
              <a:spcBef>
                <a:spcPts val="5"/>
              </a:spcBef>
            </a:pPr>
            <a:r>
              <a:rPr sz="650" dirty="0">
                <a:latin typeface="Courier New"/>
                <a:cs typeface="Courier New"/>
              </a:rPr>
              <a:t>actual_labels</a:t>
            </a:r>
            <a:r>
              <a:rPr sz="650" spc="15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=</a:t>
            </a:r>
            <a:r>
              <a:rPr sz="650" spc="15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data["Label"].map({ </a:t>
            </a:r>
            <a:r>
              <a:rPr sz="650" dirty="0">
                <a:latin typeface="Courier New"/>
                <a:cs typeface="Courier New"/>
              </a:rPr>
              <a:t>"Normal":</a:t>
            </a:r>
            <a:r>
              <a:rPr sz="650" spc="185" dirty="0">
                <a:latin typeface="Courier New"/>
                <a:cs typeface="Courier New"/>
              </a:rPr>
              <a:t> </a:t>
            </a:r>
            <a:r>
              <a:rPr sz="650" spc="-25" dirty="0">
                <a:latin typeface="Courier New"/>
                <a:cs typeface="Courier New"/>
              </a:rPr>
              <a:t>0,</a:t>
            </a:r>
            <a:endParaRPr sz="650">
              <a:latin typeface="Courier New"/>
              <a:cs typeface="Courier New"/>
            </a:endParaRPr>
          </a:p>
          <a:p>
            <a:pPr marL="219710">
              <a:lnSpc>
                <a:spcPct val="100000"/>
              </a:lnSpc>
              <a:spcBef>
                <a:spcPts val="40"/>
              </a:spcBef>
            </a:pPr>
            <a:r>
              <a:rPr sz="650" dirty="0">
                <a:latin typeface="Courier New"/>
                <a:cs typeface="Courier New"/>
              </a:rPr>
              <a:t>"Attack":</a:t>
            </a:r>
            <a:r>
              <a:rPr sz="650" spc="185" dirty="0">
                <a:latin typeface="Courier New"/>
                <a:cs typeface="Courier New"/>
              </a:rPr>
              <a:t> </a:t>
            </a:r>
            <a:r>
              <a:rPr sz="650" spc="-50" dirty="0">
                <a:latin typeface="Courier New"/>
                <a:cs typeface="Courier New"/>
              </a:rPr>
              <a:t>1</a:t>
            </a:r>
            <a:endParaRPr sz="6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650" spc="-25" dirty="0">
                <a:latin typeface="Courier New"/>
                <a:cs typeface="Courier New"/>
              </a:rPr>
              <a:t>})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650">
              <a:latin typeface="Courier New"/>
              <a:cs typeface="Courier New"/>
            </a:endParaRPr>
          </a:p>
          <a:p>
            <a:pPr marL="12700" marR="1248410">
              <a:lnSpc>
                <a:spcPct val="105100"/>
              </a:lnSpc>
            </a:pPr>
            <a:r>
              <a:rPr sz="650" dirty="0">
                <a:latin typeface="Courier New"/>
                <a:cs typeface="Courier New"/>
              </a:rPr>
              <a:t>print("\nActual</a:t>
            </a:r>
            <a:r>
              <a:rPr sz="650" spc="204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Label</a:t>
            </a:r>
            <a:r>
              <a:rPr sz="650" spc="21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Counts:") print(data["Label"].value_counts())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650">
              <a:latin typeface="Courier New"/>
              <a:cs typeface="Courier New"/>
            </a:endParaRPr>
          </a:p>
          <a:p>
            <a:pPr marL="12700" marR="5080">
              <a:lnSpc>
                <a:spcPct val="105100"/>
              </a:lnSpc>
            </a:pPr>
            <a:r>
              <a:rPr sz="650" dirty="0">
                <a:latin typeface="Courier New"/>
                <a:cs typeface="Courier New"/>
              </a:rPr>
              <a:t>#</a:t>
            </a:r>
            <a:r>
              <a:rPr sz="650" spc="3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=========================================================</a:t>
            </a:r>
            <a:r>
              <a:rPr sz="650" spc="500" dirty="0">
                <a:latin typeface="Courier New"/>
                <a:cs typeface="Courier New"/>
              </a:rPr>
              <a:t>  </a:t>
            </a:r>
            <a:r>
              <a:rPr sz="650" dirty="0">
                <a:latin typeface="Courier New"/>
                <a:cs typeface="Courier New"/>
              </a:rPr>
              <a:t>#</a:t>
            </a:r>
            <a:r>
              <a:rPr sz="650" spc="9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14.</a:t>
            </a:r>
            <a:r>
              <a:rPr sz="650" spc="9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K-MEANS</a:t>
            </a:r>
            <a:r>
              <a:rPr sz="650" spc="9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CROSS</a:t>
            </a:r>
            <a:r>
              <a:rPr sz="650" spc="95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TABULATION</a:t>
            </a:r>
            <a:endParaRPr sz="6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650" dirty="0">
                <a:latin typeface="Courier New"/>
                <a:cs typeface="Courier New"/>
              </a:rPr>
              <a:t>#</a:t>
            </a:r>
            <a:r>
              <a:rPr sz="650" spc="325" dirty="0">
                <a:latin typeface="Courier New"/>
                <a:cs typeface="Courier New"/>
              </a:rPr>
              <a:t>  </a:t>
            </a:r>
            <a:r>
              <a:rPr sz="650" spc="-10" dirty="0">
                <a:latin typeface="Courier New"/>
                <a:cs typeface="Courier New"/>
              </a:rPr>
              <a:t>=========================================================</a:t>
            </a:r>
            <a:endParaRPr sz="650">
              <a:latin typeface="Courier New"/>
              <a:cs typeface="Courier New"/>
            </a:endParaRPr>
          </a:p>
          <a:p>
            <a:pPr marL="12700" marR="1248410">
              <a:lnSpc>
                <a:spcPct val="210300"/>
              </a:lnSpc>
            </a:pPr>
            <a:r>
              <a:rPr sz="650" dirty="0">
                <a:latin typeface="Courier New"/>
                <a:cs typeface="Courier New"/>
              </a:rPr>
              <a:t>print("\nK-Means</a:t>
            </a:r>
            <a:r>
              <a:rPr sz="650" spc="17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vs</a:t>
            </a:r>
            <a:r>
              <a:rPr sz="650" spc="17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Actual</a:t>
            </a:r>
            <a:r>
              <a:rPr sz="650" spc="17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Label:") </a:t>
            </a:r>
            <a:r>
              <a:rPr sz="650" dirty="0">
                <a:latin typeface="Courier New"/>
                <a:cs typeface="Courier New"/>
              </a:rPr>
              <a:t>kmeans_comparison</a:t>
            </a:r>
            <a:r>
              <a:rPr sz="650" spc="18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=</a:t>
            </a:r>
            <a:r>
              <a:rPr sz="650" spc="19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pd.crosstab(</a:t>
            </a:r>
            <a:endParaRPr sz="650">
              <a:latin typeface="Courier New"/>
              <a:cs typeface="Courier New"/>
            </a:endParaRPr>
          </a:p>
          <a:p>
            <a:pPr marL="219710" marR="1715135">
              <a:lnSpc>
                <a:spcPct val="105100"/>
              </a:lnSpc>
            </a:pPr>
            <a:r>
              <a:rPr sz="650" spc="-10" dirty="0">
                <a:latin typeface="Courier New"/>
                <a:cs typeface="Courier New"/>
              </a:rPr>
              <a:t>data["Label"], data["KMeans_Cluster"]</a:t>
            </a:r>
            <a:endParaRPr sz="6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650" spc="-50" dirty="0">
                <a:latin typeface="Courier New"/>
                <a:cs typeface="Courier New"/>
              </a:rPr>
              <a:t>)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6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650" spc="-10" dirty="0">
                <a:latin typeface="Courier New"/>
                <a:cs typeface="Courier New"/>
              </a:rPr>
              <a:t>print(kmeans_comparison)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650">
              <a:latin typeface="Courier New"/>
              <a:cs typeface="Courier New"/>
            </a:endParaRPr>
          </a:p>
          <a:p>
            <a:pPr marL="12700" marR="5080">
              <a:lnSpc>
                <a:spcPct val="105100"/>
              </a:lnSpc>
              <a:spcBef>
                <a:spcPts val="5"/>
              </a:spcBef>
            </a:pPr>
            <a:r>
              <a:rPr sz="650" dirty="0">
                <a:latin typeface="Courier New"/>
                <a:cs typeface="Courier New"/>
              </a:rPr>
              <a:t>#</a:t>
            </a:r>
            <a:r>
              <a:rPr sz="650" spc="3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=========================================================</a:t>
            </a:r>
            <a:r>
              <a:rPr sz="650" spc="500" dirty="0">
                <a:latin typeface="Courier New"/>
                <a:cs typeface="Courier New"/>
              </a:rPr>
              <a:t>  </a:t>
            </a:r>
            <a:r>
              <a:rPr sz="650" dirty="0">
                <a:latin typeface="Courier New"/>
                <a:cs typeface="Courier New"/>
              </a:rPr>
              <a:t>#</a:t>
            </a:r>
            <a:r>
              <a:rPr sz="650" spc="8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15.</a:t>
            </a:r>
            <a:r>
              <a:rPr sz="650" spc="9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DBSCAN</a:t>
            </a:r>
            <a:r>
              <a:rPr sz="650" spc="8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CROSS</a:t>
            </a:r>
            <a:r>
              <a:rPr sz="650" spc="9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TABULATION</a:t>
            </a:r>
            <a:endParaRPr sz="6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650" dirty="0">
                <a:latin typeface="Courier New"/>
                <a:cs typeface="Courier New"/>
              </a:rPr>
              <a:t>#</a:t>
            </a:r>
            <a:r>
              <a:rPr sz="650" spc="325" dirty="0">
                <a:latin typeface="Courier New"/>
                <a:cs typeface="Courier New"/>
              </a:rPr>
              <a:t>  </a:t>
            </a:r>
            <a:r>
              <a:rPr sz="650" spc="-10" dirty="0">
                <a:latin typeface="Courier New"/>
                <a:cs typeface="Courier New"/>
              </a:rPr>
              <a:t>=========================================================</a:t>
            </a:r>
            <a:endParaRPr sz="650">
              <a:latin typeface="Courier New"/>
              <a:cs typeface="Courier New"/>
            </a:endParaRPr>
          </a:p>
          <a:p>
            <a:pPr marL="12700" marR="1300480">
              <a:lnSpc>
                <a:spcPct val="210300"/>
              </a:lnSpc>
            </a:pPr>
            <a:r>
              <a:rPr sz="650" dirty="0">
                <a:latin typeface="Courier New"/>
                <a:cs typeface="Courier New"/>
              </a:rPr>
              <a:t>print("\nDBSCAN</a:t>
            </a:r>
            <a:r>
              <a:rPr sz="650" spc="16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vs</a:t>
            </a:r>
            <a:r>
              <a:rPr sz="650" spc="16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Actual</a:t>
            </a:r>
            <a:r>
              <a:rPr sz="650" spc="165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Label:") </a:t>
            </a:r>
            <a:r>
              <a:rPr sz="650" dirty="0">
                <a:latin typeface="Courier New"/>
                <a:cs typeface="Courier New"/>
              </a:rPr>
              <a:t>dbscan_comparison</a:t>
            </a:r>
            <a:r>
              <a:rPr sz="650" spc="18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=</a:t>
            </a:r>
            <a:r>
              <a:rPr sz="650" spc="19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pd.crosstab(</a:t>
            </a:r>
            <a:endParaRPr sz="650">
              <a:latin typeface="Courier New"/>
              <a:cs typeface="Courier New"/>
            </a:endParaRPr>
          </a:p>
          <a:p>
            <a:pPr marL="219710" marR="1715135">
              <a:lnSpc>
                <a:spcPct val="105100"/>
              </a:lnSpc>
            </a:pPr>
            <a:r>
              <a:rPr sz="650" spc="-10" dirty="0">
                <a:latin typeface="Courier New"/>
                <a:cs typeface="Courier New"/>
              </a:rPr>
              <a:t>data["Label"], data["DBSCAN_Cluster"]</a:t>
            </a:r>
            <a:endParaRPr sz="6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650" spc="-50" dirty="0">
                <a:latin typeface="Courier New"/>
                <a:cs typeface="Courier New"/>
              </a:rPr>
              <a:t>)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6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650" spc="-10" dirty="0">
                <a:latin typeface="Courier New"/>
                <a:cs typeface="Courier New"/>
              </a:rPr>
              <a:t>print(dbscan_comparison)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650">
              <a:latin typeface="Courier New"/>
              <a:cs typeface="Courier New"/>
            </a:endParaRPr>
          </a:p>
          <a:p>
            <a:pPr marL="12700" marR="5080">
              <a:lnSpc>
                <a:spcPct val="105100"/>
              </a:lnSpc>
            </a:pPr>
            <a:r>
              <a:rPr sz="650" dirty="0">
                <a:latin typeface="Courier New"/>
                <a:cs typeface="Courier New"/>
              </a:rPr>
              <a:t>#</a:t>
            </a:r>
            <a:r>
              <a:rPr sz="650" spc="3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=========================================================</a:t>
            </a:r>
            <a:r>
              <a:rPr sz="650" spc="500" dirty="0">
                <a:latin typeface="Courier New"/>
                <a:cs typeface="Courier New"/>
              </a:rPr>
              <a:t>  </a:t>
            </a:r>
            <a:r>
              <a:rPr sz="650" dirty="0">
                <a:latin typeface="Courier New"/>
                <a:cs typeface="Courier New"/>
              </a:rPr>
              <a:t>#</a:t>
            </a:r>
            <a:r>
              <a:rPr sz="650" spc="6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16.</a:t>
            </a:r>
            <a:r>
              <a:rPr sz="650" spc="6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SAVE</a:t>
            </a:r>
            <a:r>
              <a:rPr sz="650" spc="7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RESULTS</a:t>
            </a:r>
            <a:endParaRPr sz="6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650" dirty="0">
                <a:latin typeface="Courier New"/>
                <a:cs typeface="Courier New"/>
              </a:rPr>
              <a:t>#</a:t>
            </a:r>
            <a:r>
              <a:rPr sz="650" spc="325" dirty="0">
                <a:latin typeface="Courier New"/>
                <a:cs typeface="Courier New"/>
              </a:rPr>
              <a:t>  </a:t>
            </a:r>
            <a:r>
              <a:rPr sz="650" spc="-10" dirty="0">
                <a:latin typeface="Courier New"/>
                <a:cs typeface="Courier New"/>
              </a:rPr>
              <a:t>=========================================================</a:t>
            </a:r>
            <a:endParaRPr sz="650">
              <a:latin typeface="Courier New"/>
              <a:cs typeface="Courier New"/>
            </a:endParaRPr>
          </a:p>
          <a:p>
            <a:pPr marL="12700" marR="160020">
              <a:lnSpc>
                <a:spcPct val="210300"/>
              </a:lnSpc>
            </a:pPr>
            <a:r>
              <a:rPr sz="650" dirty="0">
                <a:latin typeface="Courier New"/>
                <a:cs typeface="Courier New"/>
              </a:rPr>
              <a:t>output_file</a:t>
            </a:r>
            <a:r>
              <a:rPr sz="650" spc="13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=</a:t>
            </a:r>
            <a:r>
              <a:rPr sz="650" spc="13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"Malicious_Traffic_Clustering_Results.csv"</a:t>
            </a:r>
            <a:r>
              <a:rPr sz="650" spc="50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data.to_csv(</a:t>
            </a:r>
            <a:endParaRPr sz="650">
              <a:latin typeface="Courier New"/>
              <a:cs typeface="Courier New"/>
            </a:endParaRPr>
          </a:p>
          <a:p>
            <a:pPr marL="219710" marR="2233295">
              <a:lnSpc>
                <a:spcPct val="105100"/>
              </a:lnSpc>
            </a:pPr>
            <a:r>
              <a:rPr sz="650" spc="-10" dirty="0">
                <a:latin typeface="Courier New"/>
                <a:cs typeface="Courier New"/>
              </a:rPr>
              <a:t>output_file, index=False</a:t>
            </a:r>
            <a:endParaRPr sz="6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650" spc="-50" dirty="0">
                <a:latin typeface="Courier New"/>
                <a:cs typeface="Courier New"/>
              </a:rPr>
              <a:t>)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650">
              <a:latin typeface="Courier New"/>
              <a:cs typeface="Courier New"/>
            </a:endParaRPr>
          </a:p>
          <a:p>
            <a:pPr marL="12700" marR="315595">
              <a:lnSpc>
                <a:spcPct val="105100"/>
              </a:lnSpc>
            </a:pPr>
            <a:r>
              <a:rPr sz="650" spc="-10" dirty="0">
                <a:latin typeface="Courier New"/>
                <a:cs typeface="Courier New"/>
              </a:rPr>
              <a:t>print("\n==========================================")</a:t>
            </a:r>
            <a:r>
              <a:rPr sz="650" spc="500" dirty="0">
                <a:latin typeface="Courier New"/>
                <a:cs typeface="Courier New"/>
              </a:rPr>
              <a:t>  </a:t>
            </a:r>
            <a:r>
              <a:rPr sz="650" dirty="0">
                <a:latin typeface="Courier New"/>
                <a:cs typeface="Courier New"/>
              </a:rPr>
              <a:t>print("</a:t>
            </a:r>
            <a:r>
              <a:rPr sz="650" spc="15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RESULTS</a:t>
            </a:r>
            <a:r>
              <a:rPr sz="650" spc="15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SAVED") print("==========================================")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6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650" dirty="0">
                <a:latin typeface="Courier New"/>
                <a:cs typeface="Courier New"/>
              </a:rPr>
              <a:t>print("Output</a:t>
            </a:r>
            <a:r>
              <a:rPr sz="650" spc="204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file:",</a:t>
            </a:r>
            <a:r>
              <a:rPr sz="650" spc="210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output_file)</a:t>
            </a:r>
            <a:endParaRPr sz="6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650" dirty="0">
                <a:latin typeface="Courier New"/>
                <a:cs typeface="Courier New"/>
              </a:rPr>
              <a:t>print("\nThe</a:t>
            </a:r>
            <a:r>
              <a:rPr sz="650" spc="16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project</a:t>
            </a:r>
            <a:r>
              <a:rPr sz="650" spc="16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has</a:t>
            </a:r>
            <a:r>
              <a:rPr sz="650" spc="16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completed</a:t>
            </a:r>
            <a:r>
              <a:rPr sz="650" spc="165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successfully!")</a:t>
            </a:r>
            <a:endParaRPr sz="650">
              <a:latin typeface="Courier New"/>
              <a:cs typeface="Courier New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00" y="603499"/>
            <a:ext cx="6353810" cy="7340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0185" indent="-197485">
              <a:lnSpc>
                <a:spcPct val="100000"/>
              </a:lnSpc>
              <a:spcBef>
                <a:spcPts val="100"/>
              </a:spcBef>
              <a:buAutoNum type="arabicPeriod" startAt="4"/>
              <a:tabLst>
                <a:tab pos="210185" algn="l"/>
              </a:tabLst>
            </a:pPr>
            <a:r>
              <a:rPr sz="1400" b="1" dirty="0">
                <a:latin typeface="Arial"/>
                <a:cs typeface="Arial"/>
              </a:rPr>
              <a:t>Result / Expected </a:t>
            </a:r>
            <a:r>
              <a:rPr sz="1400" b="1" spc="-10" dirty="0">
                <a:latin typeface="Arial"/>
                <a:cs typeface="Arial"/>
              </a:rPr>
              <a:t>Output</a:t>
            </a:r>
            <a:endParaRPr sz="1400">
              <a:latin typeface="Arial"/>
              <a:cs typeface="Arial"/>
            </a:endParaRPr>
          </a:p>
          <a:p>
            <a:pPr marL="12700" marR="285115">
              <a:lnSpc>
                <a:spcPct val="119000"/>
              </a:lnSpc>
              <a:spcBef>
                <a:spcPts val="680"/>
              </a:spcBef>
            </a:pPr>
            <a:r>
              <a:rPr sz="1050" dirty="0">
                <a:latin typeface="Arial MT"/>
                <a:cs typeface="Arial MT"/>
              </a:rPr>
              <a:t>After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successful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execution,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program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displays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dataset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size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first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five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records,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checks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missing </a:t>
            </a:r>
            <a:r>
              <a:rPr sz="1050" dirty="0">
                <a:latin typeface="Arial MT"/>
                <a:cs typeface="Arial MT"/>
              </a:rPr>
              <a:t>values,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scales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selected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features,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performs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both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K-</a:t>
            </a:r>
            <a:r>
              <a:rPr sz="1050" dirty="0">
                <a:latin typeface="Arial MT"/>
                <a:cs typeface="Arial MT"/>
              </a:rPr>
              <a:t>Means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DBSCAN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clustering.</a:t>
            </a:r>
            <a:endParaRPr sz="1050">
              <a:latin typeface="Arial MT"/>
              <a:cs typeface="Arial MT"/>
            </a:endParaRPr>
          </a:p>
          <a:p>
            <a:pPr marL="95885" lvl="1" indent="-83185">
              <a:lnSpc>
                <a:spcPct val="100000"/>
              </a:lnSpc>
              <a:spcBef>
                <a:spcPts val="1040"/>
              </a:spcBef>
              <a:buFont typeface="Arial MT"/>
              <a:buChar char="•"/>
              <a:tabLst>
                <a:tab pos="95885" algn="l"/>
              </a:tabLst>
            </a:pPr>
            <a:r>
              <a:rPr sz="1050" b="1" spc="-10" dirty="0">
                <a:latin typeface="Arial"/>
                <a:cs typeface="Arial"/>
              </a:rPr>
              <a:t>K-</a:t>
            </a:r>
            <a:r>
              <a:rPr sz="1050" b="1" dirty="0">
                <a:latin typeface="Arial"/>
                <a:cs typeface="Arial"/>
              </a:rPr>
              <a:t>Means:</a:t>
            </a:r>
            <a:r>
              <a:rPr sz="1050" b="1" spc="-25" dirty="0">
                <a:latin typeface="Arial"/>
                <a:cs typeface="Arial"/>
              </a:rPr>
              <a:t> </a:t>
            </a:r>
            <a:r>
              <a:rPr sz="1050" dirty="0">
                <a:latin typeface="Arial MT"/>
                <a:cs typeface="Arial MT"/>
              </a:rPr>
              <a:t>Produces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two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cluster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labels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(0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1)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prints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cluster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counts.</a:t>
            </a:r>
            <a:endParaRPr sz="1050">
              <a:latin typeface="Arial MT"/>
              <a:cs typeface="Arial MT"/>
            </a:endParaRPr>
          </a:p>
          <a:p>
            <a:pPr marL="12700" marR="120014" lvl="1" indent="83185">
              <a:lnSpc>
                <a:spcPct val="119000"/>
              </a:lnSpc>
              <a:spcBef>
                <a:spcPts val="800"/>
              </a:spcBef>
              <a:buFont typeface="Arial MT"/>
              <a:buChar char="•"/>
              <a:tabLst>
                <a:tab pos="95885" algn="l"/>
              </a:tabLst>
            </a:pPr>
            <a:r>
              <a:rPr sz="1050" b="1" dirty="0">
                <a:latin typeface="Arial"/>
                <a:cs typeface="Arial"/>
              </a:rPr>
              <a:t>Silhouette</a:t>
            </a:r>
            <a:r>
              <a:rPr sz="1050" b="1" spc="-20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Score:</a:t>
            </a:r>
            <a:r>
              <a:rPr sz="1050" b="1" spc="-20" dirty="0">
                <a:latin typeface="Arial"/>
                <a:cs typeface="Arial"/>
              </a:rPr>
              <a:t> </a:t>
            </a:r>
            <a:r>
              <a:rPr sz="1050" dirty="0">
                <a:latin typeface="Arial MT"/>
                <a:cs typeface="Arial MT"/>
              </a:rPr>
              <a:t>Prints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value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between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-</a:t>
            </a:r>
            <a:r>
              <a:rPr sz="1050" dirty="0">
                <a:latin typeface="Arial MT"/>
                <a:cs typeface="Arial MT"/>
              </a:rPr>
              <a:t>1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1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indicate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how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well-</a:t>
            </a:r>
            <a:r>
              <a:rPr sz="1050" dirty="0">
                <a:latin typeface="Arial MT"/>
                <a:cs typeface="Arial MT"/>
              </a:rPr>
              <a:t>separated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K-</a:t>
            </a:r>
            <a:r>
              <a:rPr sz="1050" dirty="0">
                <a:latin typeface="Arial MT"/>
                <a:cs typeface="Arial MT"/>
              </a:rPr>
              <a:t>Means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clusters </a:t>
            </a:r>
            <a:r>
              <a:rPr sz="1050" spc="-20" dirty="0">
                <a:latin typeface="Arial MT"/>
                <a:cs typeface="Arial MT"/>
              </a:rPr>
              <a:t>are.</a:t>
            </a:r>
            <a:endParaRPr sz="1050">
              <a:latin typeface="Arial MT"/>
              <a:cs typeface="Arial MT"/>
            </a:endParaRPr>
          </a:p>
          <a:p>
            <a:pPr marL="95885" lvl="1" indent="-83185">
              <a:lnSpc>
                <a:spcPct val="100000"/>
              </a:lnSpc>
              <a:spcBef>
                <a:spcPts val="1040"/>
              </a:spcBef>
              <a:buFont typeface="Arial MT"/>
              <a:buChar char="•"/>
              <a:tabLst>
                <a:tab pos="95885" algn="l"/>
              </a:tabLst>
            </a:pPr>
            <a:r>
              <a:rPr sz="1050" b="1" dirty="0">
                <a:latin typeface="Arial"/>
                <a:cs typeface="Arial"/>
              </a:rPr>
              <a:t>DBSCAN:</a:t>
            </a:r>
            <a:r>
              <a:rPr sz="1050" b="1" spc="-30" dirty="0">
                <a:latin typeface="Arial"/>
                <a:cs typeface="Arial"/>
              </a:rPr>
              <a:t> </a:t>
            </a:r>
            <a:r>
              <a:rPr sz="1050" dirty="0">
                <a:latin typeface="Arial MT"/>
                <a:cs typeface="Arial MT"/>
              </a:rPr>
              <a:t>Prints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cluster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counts.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Label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b="1" spc="-10" dirty="0">
                <a:latin typeface="Arial"/>
                <a:cs typeface="Arial"/>
              </a:rPr>
              <a:t>-</a:t>
            </a:r>
            <a:r>
              <a:rPr sz="1050" b="1" dirty="0">
                <a:latin typeface="Arial"/>
                <a:cs typeface="Arial"/>
              </a:rPr>
              <a:t>1</a:t>
            </a:r>
            <a:r>
              <a:rPr sz="1050" b="1" spc="-30" dirty="0">
                <a:latin typeface="Arial"/>
                <a:cs typeface="Arial"/>
              </a:rPr>
              <a:t> </a:t>
            </a:r>
            <a:r>
              <a:rPr sz="1050" dirty="0">
                <a:latin typeface="Arial MT"/>
                <a:cs typeface="Arial MT"/>
              </a:rPr>
              <a:t>represents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points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identified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noise/outliers.</a:t>
            </a:r>
            <a:endParaRPr sz="1050">
              <a:latin typeface="Arial MT"/>
              <a:cs typeface="Arial MT"/>
            </a:endParaRPr>
          </a:p>
          <a:p>
            <a:pPr marL="95885" lvl="1" indent="-83185">
              <a:lnSpc>
                <a:spcPct val="100000"/>
              </a:lnSpc>
              <a:spcBef>
                <a:spcPts val="1040"/>
              </a:spcBef>
              <a:buFont typeface="Arial MT"/>
              <a:buChar char="•"/>
              <a:tabLst>
                <a:tab pos="95885" algn="l"/>
              </a:tabLst>
            </a:pPr>
            <a:r>
              <a:rPr sz="1050" b="1" dirty="0">
                <a:latin typeface="Arial"/>
                <a:cs typeface="Arial"/>
              </a:rPr>
              <a:t>PCA:</a:t>
            </a:r>
            <a:r>
              <a:rPr sz="1050" b="1" spc="-20" dirty="0">
                <a:latin typeface="Arial"/>
                <a:cs typeface="Arial"/>
              </a:rPr>
              <a:t> </a:t>
            </a:r>
            <a:r>
              <a:rPr sz="1050" dirty="0">
                <a:latin typeface="Arial MT"/>
                <a:cs typeface="Arial MT"/>
              </a:rPr>
              <a:t>Produces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two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scatter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plots,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one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for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K-</a:t>
            </a:r>
            <a:r>
              <a:rPr sz="1050" dirty="0">
                <a:latin typeface="Arial MT"/>
                <a:cs typeface="Arial MT"/>
              </a:rPr>
              <a:t>Means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one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for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DBSCAN.</a:t>
            </a:r>
            <a:endParaRPr sz="1050">
              <a:latin typeface="Arial MT"/>
              <a:cs typeface="Arial MT"/>
            </a:endParaRPr>
          </a:p>
          <a:p>
            <a:pPr marL="12700" marR="198755" lvl="1" indent="83185">
              <a:lnSpc>
                <a:spcPct val="119000"/>
              </a:lnSpc>
              <a:spcBef>
                <a:spcPts val="800"/>
              </a:spcBef>
              <a:buFont typeface="Arial MT"/>
              <a:buChar char="•"/>
              <a:tabLst>
                <a:tab pos="95885" algn="l"/>
              </a:tabLst>
            </a:pPr>
            <a:r>
              <a:rPr sz="1050" b="1" dirty="0">
                <a:latin typeface="Arial"/>
                <a:cs typeface="Arial"/>
              </a:rPr>
              <a:t>Comparison:</a:t>
            </a:r>
            <a:r>
              <a:rPr sz="1050" b="1" spc="-30" dirty="0">
                <a:latin typeface="Arial"/>
                <a:cs typeface="Arial"/>
              </a:rPr>
              <a:t> </a:t>
            </a:r>
            <a:r>
              <a:rPr sz="1050" spc="-10" dirty="0">
                <a:latin typeface="Arial MT"/>
                <a:cs typeface="Arial MT"/>
              </a:rPr>
              <a:t>Cross-</a:t>
            </a:r>
            <a:r>
              <a:rPr sz="1050" dirty="0">
                <a:latin typeface="Arial MT"/>
                <a:cs typeface="Arial MT"/>
              </a:rPr>
              <a:t>tabulations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compare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discovered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clusters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with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dataset's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Normal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Attack labels.</a:t>
            </a:r>
            <a:endParaRPr sz="1050">
              <a:latin typeface="Arial MT"/>
              <a:cs typeface="Arial MT"/>
            </a:endParaRPr>
          </a:p>
          <a:p>
            <a:pPr marL="95885" lvl="1" indent="-83185">
              <a:lnSpc>
                <a:spcPct val="100000"/>
              </a:lnSpc>
              <a:spcBef>
                <a:spcPts val="1040"/>
              </a:spcBef>
              <a:buFont typeface="Arial MT"/>
              <a:buChar char="•"/>
              <a:tabLst>
                <a:tab pos="95885" algn="l"/>
              </a:tabLst>
            </a:pPr>
            <a:r>
              <a:rPr sz="1050" b="1" dirty="0">
                <a:latin typeface="Arial"/>
                <a:cs typeface="Arial"/>
              </a:rPr>
              <a:t>Output</a:t>
            </a:r>
            <a:r>
              <a:rPr sz="1050" b="1" spc="-35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file:</a:t>
            </a:r>
            <a:r>
              <a:rPr sz="1050" b="1" spc="-25" dirty="0">
                <a:latin typeface="Arial"/>
                <a:cs typeface="Arial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complete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dataset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with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cluster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assignments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saved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as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050" b="1" spc="-10" dirty="0">
                <a:latin typeface="Arial"/>
                <a:cs typeface="Arial"/>
              </a:rPr>
              <a:t>Malicious_Traffic_Clustering_Results.csv</a:t>
            </a:r>
            <a:r>
              <a:rPr sz="1050" spc="-10" dirty="0">
                <a:latin typeface="Arial MT"/>
                <a:cs typeface="Arial MT"/>
              </a:rPr>
              <a:t>.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10"/>
              </a:spcBef>
            </a:pPr>
            <a:endParaRPr sz="1050">
              <a:latin typeface="Arial MT"/>
              <a:cs typeface="Arial MT"/>
            </a:endParaRPr>
          </a:p>
          <a:p>
            <a:pPr marL="12700" marR="589280">
              <a:lnSpc>
                <a:spcPct val="111100"/>
              </a:lnSpc>
              <a:spcBef>
                <a:spcPts val="5"/>
              </a:spcBef>
            </a:pPr>
            <a:r>
              <a:rPr sz="900" dirty="0">
                <a:latin typeface="Arial MT"/>
                <a:cs typeface="Arial MT"/>
              </a:rPr>
              <a:t>Important: numerical cluster counts, silhouette score, and outlier count depend on the actual CSV dataset and </a:t>
            </a:r>
            <a:r>
              <a:rPr sz="900" spc="-25" dirty="0">
                <a:latin typeface="Arial MT"/>
                <a:cs typeface="Arial MT"/>
              </a:rPr>
              <a:t>are </a:t>
            </a:r>
            <a:r>
              <a:rPr sz="900" dirty="0">
                <a:latin typeface="Arial MT"/>
                <a:cs typeface="Arial MT"/>
              </a:rPr>
              <a:t>intentionally not fabricated </a:t>
            </a:r>
            <a:r>
              <a:rPr sz="900" spc="-10" dirty="0">
                <a:latin typeface="Arial MT"/>
                <a:cs typeface="Arial MT"/>
              </a:rPr>
              <a:t>here.</a:t>
            </a:r>
            <a:endParaRPr sz="900">
              <a:latin typeface="Arial MT"/>
              <a:cs typeface="Arial MT"/>
            </a:endParaRPr>
          </a:p>
          <a:p>
            <a:pPr marL="210185" indent="-197485">
              <a:lnSpc>
                <a:spcPct val="100000"/>
              </a:lnSpc>
              <a:spcBef>
                <a:spcPts val="920"/>
              </a:spcBef>
              <a:buAutoNum type="arabicPeriod" startAt="5"/>
              <a:tabLst>
                <a:tab pos="210185" algn="l"/>
              </a:tabLst>
            </a:pPr>
            <a:r>
              <a:rPr sz="1400" b="1" spc="-10" dirty="0">
                <a:latin typeface="Arial"/>
                <a:cs typeface="Arial"/>
              </a:rPr>
              <a:t>Conclusion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19000"/>
              </a:lnSpc>
              <a:spcBef>
                <a:spcPts val="680"/>
              </a:spcBef>
            </a:pP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Malicious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Network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Traffic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Clustering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System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demonstrates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how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unsupervised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machine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learning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can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be </a:t>
            </a:r>
            <a:r>
              <a:rPr sz="1050" dirty="0">
                <a:latin typeface="Arial MT"/>
                <a:cs typeface="Arial MT"/>
              </a:rPr>
              <a:t>applied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network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traffic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analysis.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project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preprocesses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traffic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features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using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standardization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then </a:t>
            </a:r>
            <a:r>
              <a:rPr sz="1050" dirty="0">
                <a:latin typeface="Arial MT"/>
                <a:cs typeface="Arial MT"/>
              </a:rPr>
              <a:t>applies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K-</a:t>
            </a:r>
            <a:r>
              <a:rPr sz="1050" dirty="0">
                <a:latin typeface="Arial MT"/>
                <a:cs typeface="Arial MT"/>
              </a:rPr>
              <a:t>Means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DBSCAN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discover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patterns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traffic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data.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K-</a:t>
            </a:r>
            <a:r>
              <a:rPr sz="1050" dirty="0">
                <a:latin typeface="Arial MT"/>
                <a:cs typeface="Arial MT"/>
              </a:rPr>
              <a:t>Means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provides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simple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partition </a:t>
            </a:r>
            <a:r>
              <a:rPr sz="1050" dirty="0">
                <a:latin typeface="Arial MT"/>
                <a:cs typeface="Arial MT"/>
              </a:rPr>
              <a:t>of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traffic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into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two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groups,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while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DBSCAN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useful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for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identifying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dense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traffic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groups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unusual </a:t>
            </a:r>
            <a:r>
              <a:rPr sz="1050" dirty="0">
                <a:latin typeface="Arial MT"/>
                <a:cs typeface="Arial MT"/>
              </a:rPr>
              <a:t>records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that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may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behave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like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outliers.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PCA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helps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visualize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resulting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clusters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two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dimensions.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The </a:t>
            </a:r>
            <a:r>
              <a:rPr sz="1050" dirty="0">
                <a:latin typeface="Arial MT"/>
                <a:cs typeface="Arial MT"/>
              </a:rPr>
              <a:t>comparison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with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Normal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Attack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labels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provides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additional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way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understand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how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discovered </a:t>
            </a:r>
            <a:r>
              <a:rPr sz="1050" dirty="0">
                <a:latin typeface="Arial MT"/>
                <a:cs typeface="Arial MT"/>
              </a:rPr>
              <a:t>groups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correspond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known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traffic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categories.</a:t>
            </a:r>
            <a:endParaRPr sz="1050">
              <a:latin typeface="Arial MT"/>
              <a:cs typeface="Arial MT"/>
            </a:endParaRPr>
          </a:p>
          <a:p>
            <a:pPr marL="12700" marR="62230">
              <a:lnSpc>
                <a:spcPct val="119000"/>
              </a:lnSpc>
              <a:spcBef>
                <a:spcPts val="800"/>
              </a:spcBef>
            </a:pPr>
            <a:r>
              <a:rPr sz="1050" dirty="0">
                <a:latin typeface="Arial MT"/>
                <a:cs typeface="Arial MT"/>
              </a:rPr>
              <a:t>Overall,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system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shows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that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clustering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can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support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exploratory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analysis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of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network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traffic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can</a:t>
            </a:r>
            <a:r>
              <a:rPr sz="1050" spc="-20" dirty="0">
                <a:latin typeface="Arial MT"/>
                <a:cs typeface="Arial MT"/>
              </a:rPr>
              <a:t> help </a:t>
            </a:r>
            <a:r>
              <a:rPr sz="1050" dirty="0">
                <a:latin typeface="Arial MT"/>
                <a:cs typeface="Arial MT"/>
              </a:rPr>
              <a:t>highlight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potentially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suspicious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patterns.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It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should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treated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analytical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aid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rather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than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standalone </a:t>
            </a:r>
            <a:r>
              <a:rPr sz="1050" dirty="0">
                <a:latin typeface="Arial MT"/>
                <a:cs typeface="Arial MT"/>
              </a:rPr>
              <a:t>security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detector,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because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clustering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results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depend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on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feature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selection,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scaling,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parameters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such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as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number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of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K-</a:t>
            </a:r>
            <a:r>
              <a:rPr sz="1050" dirty="0">
                <a:latin typeface="Arial MT"/>
                <a:cs typeface="Arial MT"/>
              </a:rPr>
              <a:t>Means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clusters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DBSCAN's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eps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min_samples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values.</a:t>
            </a:r>
            <a:endParaRPr sz="1050">
              <a:latin typeface="Arial MT"/>
              <a:cs typeface="Arial MT"/>
            </a:endParaRPr>
          </a:p>
          <a:p>
            <a:pPr marL="210185" indent="-197485">
              <a:lnSpc>
                <a:spcPct val="100000"/>
              </a:lnSpc>
              <a:spcBef>
                <a:spcPts val="1040"/>
              </a:spcBef>
              <a:buAutoNum type="arabicPeriod" startAt="6"/>
              <a:tabLst>
                <a:tab pos="210185" algn="l"/>
              </a:tabLst>
            </a:pPr>
            <a:r>
              <a:rPr sz="1400" b="1" dirty="0">
                <a:latin typeface="Arial"/>
                <a:cs typeface="Arial"/>
              </a:rPr>
              <a:t>How to </a:t>
            </a:r>
            <a:r>
              <a:rPr sz="1400" b="1" spc="-25" dirty="0">
                <a:latin typeface="Arial"/>
                <a:cs typeface="Arial"/>
              </a:rPr>
              <a:t>Run</a:t>
            </a:r>
            <a:endParaRPr sz="1400">
              <a:latin typeface="Arial"/>
              <a:cs typeface="Arial"/>
            </a:endParaRPr>
          </a:p>
          <a:p>
            <a:pPr marL="76200" marR="3782060">
              <a:lnSpc>
                <a:spcPct val="105100"/>
              </a:lnSpc>
              <a:spcBef>
                <a:spcPts val="910"/>
              </a:spcBef>
            </a:pPr>
            <a:r>
              <a:rPr sz="650" dirty="0">
                <a:latin typeface="Courier New"/>
                <a:cs typeface="Courier New"/>
              </a:rPr>
              <a:t>pip</a:t>
            </a:r>
            <a:r>
              <a:rPr sz="650" spc="16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install</a:t>
            </a:r>
            <a:r>
              <a:rPr sz="650" spc="16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pandas</a:t>
            </a:r>
            <a:r>
              <a:rPr sz="650" spc="16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numpy</a:t>
            </a:r>
            <a:r>
              <a:rPr sz="650" spc="160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matplotlib</a:t>
            </a:r>
            <a:r>
              <a:rPr sz="650" spc="165" dirty="0">
                <a:latin typeface="Courier New"/>
                <a:cs typeface="Courier New"/>
              </a:rPr>
              <a:t> </a:t>
            </a:r>
            <a:r>
              <a:rPr sz="650" dirty="0">
                <a:latin typeface="Courier New"/>
                <a:cs typeface="Courier New"/>
              </a:rPr>
              <a:t>scikit-</a:t>
            </a:r>
            <a:r>
              <a:rPr sz="650" spc="-10" dirty="0">
                <a:latin typeface="Courier New"/>
                <a:cs typeface="Courier New"/>
              </a:rPr>
              <a:t>learn </a:t>
            </a:r>
            <a:r>
              <a:rPr sz="650" dirty="0">
                <a:latin typeface="Courier New"/>
                <a:cs typeface="Courier New"/>
              </a:rPr>
              <a:t>python</a:t>
            </a:r>
            <a:r>
              <a:rPr sz="650" spc="254" dirty="0">
                <a:latin typeface="Courier New"/>
                <a:cs typeface="Courier New"/>
              </a:rPr>
              <a:t> </a:t>
            </a:r>
            <a:r>
              <a:rPr sz="650" spc="-10" dirty="0">
                <a:latin typeface="Courier New"/>
                <a:cs typeface="Courier New"/>
              </a:rPr>
              <a:t>malicious_network_traffic.py</a:t>
            </a:r>
            <a:endParaRPr sz="650">
              <a:latin typeface="Courier New"/>
              <a:cs typeface="Courier New"/>
            </a:endParaRPr>
          </a:p>
          <a:p>
            <a:pPr marL="12700" marR="5080">
              <a:lnSpc>
                <a:spcPct val="119000"/>
              </a:lnSpc>
              <a:spcBef>
                <a:spcPts val="370"/>
              </a:spcBef>
            </a:pPr>
            <a:r>
              <a:rPr sz="1050" dirty="0">
                <a:latin typeface="Arial MT"/>
                <a:cs typeface="Arial MT"/>
              </a:rPr>
              <a:t>Place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Python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program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Malicious_Network_Traffic_500.csv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same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directory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before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running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the </a:t>
            </a:r>
            <a:r>
              <a:rPr sz="1050" spc="-10" dirty="0">
                <a:latin typeface="Arial MT"/>
                <a:cs typeface="Arial MT"/>
              </a:rPr>
              <a:t>program.</a:t>
            </a:r>
            <a:endParaRPr sz="105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1576</Words>
  <Application>Microsoft Office PowerPoint</Application>
  <PresentationFormat>Custom</PresentationFormat>
  <Paragraphs>223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Arial MT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Ganesh Agarwal</cp:lastModifiedBy>
  <cp:revision>1</cp:revision>
  <dcterms:created xsi:type="dcterms:W3CDTF">2026-10-05T14:59:41Z</dcterms:created>
  <dcterms:modified xsi:type="dcterms:W3CDTF">2026-10-05T15:03:40Z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2026-10-05T00:00:00Z</vt:filetime>
  </property>
  <property fmtid="{D5CDD505-2E9C-101B-9397-08002B2CF9AE}" pid="4" name="LastSaved">
    <vt:filetime>2026-10-05T00:00:00Z</vt:filetime>
  </property>
</Properties>
</file>