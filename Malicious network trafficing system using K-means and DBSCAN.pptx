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2539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794F4-A7FD-4520-883A-7194E8D2DC7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74925" y="1257300"/>
            <a:ext cx="262255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1537E2-F707-4CDC-9251-3CEDEDFD3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862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537E2-F707-4CDC-9251-3CEDEDFD37C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780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8380" y="847598"/>
            <a:ext cx="5755640" cy="5501506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967864" marR="1962150" algn="ctr">
              <a:lnSpc>
                <a:spcPts val="1839"/>
              </a:lnSpc>
              <a:spcBef>
                <a:spcPts val="220"/>
              </a:spcBef>
            </a:pPr>
            <a:r>
              <a:rPr sz="1600" b="1" dirty="0">
                <a:solidFill>
                  <a:srgbClr val="ED0000"/>
                </a:solidFill>
                <a:latin typeface="Times New Roman"/>
                <a:cs typeface="Times New Roman"/>
              </a:rPr>
              <a:t>A</a:t>
            </a:r>
            <a:r>
              <a:rPr sz="1600" b="1" spc="-10" dirty="0">
                <a:solidFill>
                  <a:srgbClr val="ED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ED0000"/>
                </a:solidFill>
                <a:latin typeface="Times New Roman"/>
                <a:cs typeface="Times New Roman"/>
              </a:rPr>
              <a:t>PROJECT</a:t>
            </a:r>
            <a:r>
              <a:rPr sz="1600" b="1" spc="-15" dirty="0">
                <a:solidFill>
                  <a:srgbClr val="ED0000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ED0000"/>
                </a:solidFill>
                <a:latin typeface="Times New Roman"/>
                <a:cs typeface="Times New Roman"/>
              </a:rPr>
              <a:t>TITLE </a:t>
            </a:r>
            <a:r>
              <a:rPr sz="1600" b="1" spc="-25" dirty="0">
                <a:solidFill>
                  <a:srgbClr val="ED0000"/>
                </a:solidFill>
                <a:latin typeface="Times New Roman"/>
                <a:cs typeface="Times New Roman"/>
              </a:rPr>
              <a:t>ON</a:t>
            </a:r>
            <a:endParaRPr sz="1600" dirty="0">
              <a:latin typeface="Times New Roman"/>
              <a:cs typeface="Times New Roman"/>
            </a:endParaRPr>
          </a:p>
          <a:p>
            <a:pPr marL="12065" marR="5080" algn="ctr">
              <a:lnSpc>
                <a:spcPts val="2290"/>
              </a:lnSpc>
              <a:spcBef>
                <a:spcPts val="15"/>
              </a:spcBef>
            </a:pPr>
            <a:r>
              <a:rPr lang="en-US"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Malicious network </a:t>
            </a:r>
            <a:r>
              <a:rPr lang="en-US" sz="2000" b="1" dirty="0" err="1">
                <a:solidFill>
                  <a:srgbClr val="006FC0"/>
                </a:solidFill>
                <a:latin typeface="Times New Roman"/>
                <a:cs typeface="Times New Roman"/>
              </a:rPr>
              <a:t>trafficing</a:t>
            </a:r>
            <a:r>
              <a:rPr lang="en-US"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US" sz="2000" b="1">
                <a:solidFill>
                  <a:srgbClr val="006FC0"/>
                </a:solidFill>
                <a:latin typeface="Times New Roman"/>
                <a:cs typeface="Times New Roman"/>
              </a:rPr>
              <a:t>System using K- means and DBSCAN</a:t>
            </a:r>
            <a:endParaRPr sz="2000" dirty="0">
              <a:latin typeface="Times New Roman"/>
              <a:cs typeface="Times New Roman"/>
            </a:endParaRPr>
          </a:p>
          <a:p>
            <a:pPr algn="ctr">
              <a:lnSpc>
                <a:spcPts val="1565"/>
              </a:lnSpc>
            </a:pPr>
            <a:r>
              <a:rPr sz="1400" dirty="0">
                <a:solidFill>
                  <a:srgbClr val="006FC0"/>
                </a:solidFill>
                <a:latin typeface="Times New Roman"/>
                <a:cs typeface="Times New Roman"/>
              </a:rPr>
              <a:t>project</a:t>
            </a:r>
            <a:r>
              <a:rPr sz="140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6FC0"/>
                </a:solidFill>
                <a:latin typeface="Times New Roman"/>
                <a:cs typeface="Times New Roman"/>
              </a:rPr>
              <a:t>report</a:t>
            </a:r>
            <a:r>
              <a:rPr sz="14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6FC0"/>
                </a:solidFill>
                <a:latin typeface="Times New Roman"/>
                <a:cs typeface="Times New Roman"/>
              </a:rPr>
              <a:t>submitted</a:t>
            </a:r>
            <a:r>
              <a:rPr sz="14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6FC0"/>
                </a:solidFill>
                <a:latin typeface="Times New Roman"/>
                <a:cs typeface="Times New Roman"/>
              </a:rPr>
              <a:t>in</a:t>
            </a:r>
            <a:r>
              <a:rPr sz="14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6FC0"/>
                </a:solidFill>
                <a:latin typeface="Times New Roman"/>
                <a:cs typeface="Times New Roman"/>
              </a:rPr>
              <a:t>partial</a:t>
            </a:r>
            <a:r>
              <a:rPr sz="14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6FC0"/>
                </a:solidFill>
                <a:latin typeface="Times New Roman"/>
                <a:cs typeface="Times New Roman"/>
              </a:rPr>
              <a:t>fulfilment</a:t>
            </a:r>
            <a:r>
              <a:rPr sz="14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6FC0"/>
                </a:solidFill>
                <a:latin typeface="Times New Roman"/>
                <a:cs typeface="Times New Roman"/>
              </a:rPr>
              <a:t>of</a:t>
            </a:r>
            <a:r>
              <a:rPr sz="14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140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6FC0"/>
                </a:solidFill>
                <a:latin typeface="Times New Roman"/>
                <a:cs typeface="Times New Roman"/>
              </a:rPr>
              <a:t>requirements</a:t>
            </a:r>
            <a:r>
              <a:rPr sz="14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6FC0"/>
                </a:solidFill>
                <a:latin typeface="Times New Roman"/>
                <a:cs typeface="Times New Roman"/>
              </a:rPr>
              <a:t>for</a:t>
            </a:r>
            <a:r>
              <a:rPr sz="140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1400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Times New Roman"/>
                <a:cs typeface="Times New Roman"/>
              </a:rPr>
              <a:t>Course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05865" marR="1200785" algn="ctr">
              <a:lnSpc>
                <a:spcPts val="1839"/>
              </a:lnSpc>
            </a:pPr>
            <a:r>
              <a:rPr sz="1600" b="1" dirty="0">
                <a:latin typeface="Times New Roman"/>
                <a:cs typeface="Times New Roman"/>
              </a:rPr>
              <a:t>MACHINE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LEARNING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(25SC2107E) </a:t>
            </a:r>
            <a:r>
              <a:rPr sz="1600" b="1" dirty="0">
                <a:latin typeface="Times New Roman"/>
                <a:cs typeface="Times New Roman"/>
              </a:rPr>
              <a:t>BACHELOR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10" dirty="0">
                <a:latin typeface="Times New Roman"/>
                <a:cs typeface="Times New Roman"/>
              </a:rPr>
              <a:t> TECHNOLOGY</a:t>
            </a:r>
            <a:endParaRPr sz="1600" dirty="0">
              <a:latin typeface="Times New Roman"/>
              <a:cs typeface="Times New Roman"/>
            </a:endParaRPr>
          </a:p>
          <a:p>
            <a:pPr algn="ctr">
              <a:lnSpc>
                <a:spcPts val="1530"/>
              </a:lnSpc>
            </a:pPr>
            <a:r>
              <a:rPr sz="1400" b="1" spc="-25" dirty="0">
                <a:latin typeface="Times New Roman"/>
                <a:cs typeface="Times New Roman"/>
              </a:rPr>
              <a:t>In</a:t>
            </a:r>
            <a:endParaRPr sz="1400" dirty="0">
              <a:latin typeface="Times New Roman"/>
              <a:cs typeface="Times New Roman"/>
            </a:endParaRPr>
          </a:p>
          <a:p>
            <a:pPr algn="ctr">
              <a:lnSpc>
                <a:spcPts val="1645"/>
              </a:lnSpc>
            </a:pPr>
            <a:r>
              <a:rPr sz="1400" b="1" dirty="0">
                <a:latin typeface="Times New Roman"/>
                <a:cs typeface="Times New Roman"/>
              </a:rPr>
              <a:t>A.Y.:</a:t>
            </a:r>
            <a:r>
              <a:rPr sz="1400" b="1" spc="1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2026-</a:t>
            </a:r>
            <a:r>
              <a:rPr sz="1400" b="1" spc="-25" dirty="0">
                <a:latin typeface="Times New Roman"/>
                <a:cs typeface="Times New Roman"/>
              </a:rPr>
              <a:t>27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latin typeface="Times New Roman"/>
                <a:cs typeface="Times New Roman"/>
              </a:rPr>
              <a:t>By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918970">
              <a:lnSpc>
                <a:spcPts val="1650"/>
              </a:lnSpc>
            </a:pPr>
            <a:r>
              <a:rPr lang="en-US" sz="1400" b="1" spc="-30" dirty="0">
                <a:latin typeface="Times New Roman"/>
                <a:cs typeface="Times New Roman"/>
              </a:rPr>
              <a:t>J . Shashank 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—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lang="en-US" sz="1400" b="1" spc="-20" dirty="0">
                <a:latin typeface="Times New Roman"/>
                <a:cs typeface="Times New Roman"/>
              </a:rPr>
              <a:t>2520030433</a:t>
            </a:r>
            <a:endParaRPr sz="1400" dirty="0">
              <a:latin typeface="Times New Roman"/>
              <a:cs typeface="Times New Roman"/>
            </a:endParaRPr>
          </a:p>
          <a:p>
            <a:pPr marL="1903730">
              <a:lnSpc>
                <a:spcPts val="1614"/>
              </a:lnSpc>
            </a:pPr>
            <a:r>
              <a:rPr lang="en-US" sz="1400" b="1" spc="-10" dirty="0">
                <a:latin typeface="Times New Roman"/>
                <a:cs typeface="Times New Roman"/>
              </a:rPr>
              <a:t>K. Revanth 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—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2520030</a:t>
            </a:r>
            <a:r>
              <a:rPr lang="en-US" sz="1400" b="1" spc="-10" dirty="0">
                <a:latin typeface="Times New Roman"/>
                <a:cs typeface="Times New Roman"/>
              </a:rPr>
              <a:t>545</a:t>
            </a:r>
            <a:endParaRPr sz="1400" dirty="0">
              <a:latin typeface="Times New Roman"/>
              <a:cs typeface="Times New Roman"/>
            </a:endParaRPr>
          </a:p>
          <a:p>
            <a:pPr marL="1541145">
              <a:lnSpc>
                <a:spcPts val="1645"/>
              </a:lnSpc>
            </a:pPr>
            <a:r>
              <a:rPr lang="en-US" sz="1400" b="1" spc="-30" dirty="0">
                <a:latin typeface="Times New Roman"/>
                <a:cs typeface="Times New Roman"/>
              </a:rPr>
              <a:t>B . Chenna </a:t>
            </a:r>
            <a:r>
              <a:rPr lang="en-US" sz="1400" b="1" spc="-30" dirty="0" err="1">
                <a:latin typeface="Times New Roman"/>
                <a:cs typeface="Times New Roman"/>
              </a:rPr>
              <a:t>Malleswar</a:t>
            </a:r>
            <a:r>
              <a:rPr lang="en-US" sz="1400" b="1" spc="-30" dirty="0">
                <a:latin typeface="Times New Roman"/>
                <a:cs typeface="Times New Roman"/>
              </a:rPr>
              <a:t> 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—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2520030</a:t>
            </a:r>
            <a:r>
              <a:rPr lang="en-US" sz="1400" b="1" spc="-10" dirty="0">
                <a:latin typeface="Times New Roman"/>
                <a:cs typeface="Times New Roman"/>
              </a:rPr>
              <a:t>546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algn="ctr">
              <a:lnSpc>
                <a:spcPts val="1650"/>
              </a:lnSpc>
            </a:pPr>
            <a:r>
              <a:rPr sz="1400" b="1" dirty="0">
                <a:latin typeface="Times New Roman"/>
                <a:cs typeface="Times New Roman"/>
              </a:rPr>
              <a:t>Under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the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Esteemed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guidance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of</a:t>
            </a:r>
            <a:endParaRPr sz="1400" dirty="0">
              <a:latin typeface="Times New Roman"/>
              <a:cs typeface="Times New Roman"/>
            </a:endParaRPr>
          </a:p>
          <a:p>
            <a:pPr marL="2080260" marR="2072005" algn="ctr">
              <a:lnSpc>
                <a:spcPts val="1610"/>
              </a:lnSpc>
              <a:spcBef>
                <a:spcPts val="80"/>
              </a:spcBef>
            </a:pPr>
            <a:r>
              <a:rPr sz="1400" dirty="0">
                <a:latin typeface="Times New Roman"/>
                <a:cs typeface="Times New Roman"/>
              </a:rPr>
              <a:t>Mr.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G.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Ravindra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Babu </a:t>
            </a:r>
            <a:r>
              <a:rPr sz="1400" dirty="0">
                <a:latin typeface="Times New Roman"/>
                <a:cs typeface="Times New Roman"/>
              </a:rPr>
              <a:t>Professor,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CSE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Department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Computer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Science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Engineering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7539" y="6580505"/>
            <a:ext cx="1416024" cy="14217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800" y="8319769"/>
            <a:ext cx="6400457" cy="7216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CDFFA0-8074-CBC2-D85B-B8AA48B1B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38200" y="0"/>
            <a:ext cx="9296400" cy="88999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FFFF70D-3F0C-976C-F165-EF1D555E3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5060"/>
            <a:ext cx="7772400" cy="880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79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22933D0-EBA2-634C-6964-035E72CF2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8670"/>
            <a:ext cx="7772400" cy="90210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70B5A185-BD61-CA0D-C620-020989F2B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74"/>
            <a:ext cx="7772400" cy="100484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F65CCB5-18E3-75D3-1728-2803E43A5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97" y="0"/>
            <a:ext cx="7367006" cy="10058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22FEA57-2E01-48C2-3590-4989215BB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415"/>
            <a:ext cx="7772400" cy="96275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32657"/>
            <a:ext cx="7467600" cy="298286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400" b="1" dirty="0">
                <a:solidFill>
                  <a:srgbClr val="365F91"/>
                </a:solidFill>
                <a:latin typeface="Times New Roman"/>
                <a:cs typeface="Times New Roman"/>
              </a:rPr>
              <a:t>7.</a:t>
            </a:r>
            <a:r>
              <a:rPr sz="1400" b="1" spc="-5" dirty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365F91"/>
                </a:solidFill>
                <a:latin typeface="Times New Roman"/>
                <a:cs typeface="Times New Roman"/>
              </a:rPr>
              <a:t>References</a:t>
            </a:r>
            <a:endParaRPr lang="en-US" sz="1400" b="1" spc="-10" dirty="0">
              <a:solidFill>
                <a:srgbClr val="365F91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endParaRPr lang="en-IN" sz="1400" b="1" dirty="0"/>
          </a:p>
          <a:p>
            <a:pPr lvl="0"/>
            <a:r>
              <a:rPr lang="en-IN" sz="1200" dirty="0"/>
              <a:t>Ester, M., Kriegel, H.-P., Sander, J., &amp; Xu, X. (1996). </a:t>
            </a:r>
            <a:r>
              <a:rPr lang="en-IN" sz="1200" b="1" dirty="0"/>
              <a:t>A Density-Based Algorithm for Discovering Clusters in Large Spatial Databases with Noise.</a:t>
            </a:r>
            <a:r>
              <a:rPr lang="en-IN" sz="1200" dirty="0"/>
              <a:t> Proceedings of KDD.</a:t>
            </a:r>
          </a:p>
          <a:p>
            <a:pPr lvl="0"/>
            <a:r>
              <a:rPr lang="en-IN" sz="1200" dirty="0"/>
              <a:t>MacQueen, J. (1967). </a:t>
            </a:r>
            <a:r>
              <a:rPr lang="en-IN" sz="1200" b="1" dirty="0"/>
              <a:t>Some Methods for Classification and Analysis of Multivariate Observations.</a:t>
            </a:r>
            <a:r>
              <a:rPr lang="en-IN" sz="1200" dirty="0"/>
              <a:t> Proceedings of the Fifth Berkeley Symposium on Mathematical Statistics and Probability.</a:t>
            </a:r>
          </a:p>
          <a:p>
            <a:pPr lvl="0"/>
            <a:r>
              <a:rPr lang="en-IN" sz="1200" dirty="0"/>
              <a:t>Han, J., Kamber, M., &amp; Pei, J. </a:t>
            </a:r>
            <a:r>
              <a:rPr lang="en-IN" sz="1200" b="1" dirty="0"/>
              <a:t>Data Mining: Concepts and Techniques.</a:t>
            </a:r>
            <a:r>
              <a:rPr lang="en-IN" sz="1200" dirty="0"/>
              <a:t> Morgan Kaufmann.</a:t>
            </a:r>
          </a:p>
          <a:p>
            <a:pPr lvl="0"/>
            <a:r>
              <a:rPr lang="en-IN" sz="1200" dirty="0"/>
              <a:t>Scikit-learn Documentation. </a:t>
            </a:r>
            <a:r>
              <a:rPr lang="en-IN" sz="1200" b="1" dirty="0"/>
              <a:t>K-Means Clustering and DBSCAN Clustering.</a:t>
            </a:r>
            <a:r>
              <a:rPr lang="en-IN" sz="1200" dirty="0"/>
              <a:t> Python Machine Learning Library.</a:t>
            </a:r>
          </a:p>
          <a:p>
            <a:pPr lvl="0"/>
            <a:r>
              <a:rPr lang="en-IN" sz="1200" dirty="0"/>
              <a:t>Tan, P.-N., Steinbach, M., &amp; Kumar, V. </a:t>
            </a:r>
            <a:r>
              <a:rPr lang="en-IN" sz="1200" b="1" dirty="0"/>
              <a:t>Introduction to Data Mining.</a:t>
            </a:r>
            <a:r>
              <a:rPr lang="en-IN" sz="1200" dirty="0"/>
              <a:t> Pearson.</a:t>
            </a:r>
          </a:p>
          <a:p>
            <a:pPr lvl="0"/>
            <a:r>
              <a:rPr lang="en-IN" sz="1200" dirty="0"/>
              <a:t>Buczak, A. L., &amp; Guven, E. (2016). </a:t>
            </a:r>
            <a:r>
              <a:rPr lang="en-IN" sz="1200" b="1" dirty="0"/>
              <a:t>A Survey of Data Mining and Machine Learning Methods for Cyber Security Intrusion Detection.</a:t>
            </a:r>
            <a:r>
              <a:rPr lang="en-IN" sz="1200" dirty="0"/>
              <a:t> IEEE Communications Surveys &amp; Tutorials.</a:t>
            </a:r>
          </a:p>
          <a:p>
            <a:pPr lvl="0"/>
            <a:r>
              <a:rPr lang="en-IN" sz="1200" dirty="0"/>
              <a:t>Sommer, R., &amp; Paxson, V. (2010). </a:t>
            </a:r>
            <a:r>
              <a:rPr lang="en-IN" sz="1200" b="1" dirty="0"/>
              <a:t>Outside the Closed World: On Using Machine Learning for Network Intrusion Detection.</a:t>
            </a:r>
            <a:r>
              <a:rPr lang="en-IN" sz="1200" dirty="0"/>
              <a:t> IEEE Symposium on Security and Privacy.</a:t>
            </a: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7200" y="4865632"/>
            <a:ext cx="146050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Times New Roman"/>
                <a:cs typeface="Times New Roman"/>
              </a:rPr>
              <a:t>Signature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Guide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8800" y="4859848"/>
            <a:ext cx="99885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Times New Roman"/>
                <a:cs typeface="Times New Roman"/>
              </a:rPr>
              <a:t>Course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Instructor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</TotalTime>
  <Words>283</Words>
  <Application>Microsoft Office PowerPoint</Application>
  <PresentationFormat>Custom</PresentationFormat>
  <Paragraphs>30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python-docx</dc:creator>
  <dc:description/>
  <cp:lastModifiedBy>SINGAMSETTY BHEESHMA</cp:lastModifiedBy>
  <cp:revision>3</cp:revision>
  <dcterms:created xsi:type="dcterms:W3CDTF">2026-10-05T14:04:46Z</dcterms:created>
  <dcterms:modified xsi:type="dcterms:W3CDTF">2026-10-06T07:46:51Z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2026-10-01T00:00:00Z</vt:filetime>
  </property>
  <property fmtid="{D5CDD505-2E9C-101B-9397-08002B2CF9AE}" pid="4" name="Creator">
    <vt:lpwstr>WPS Docs</vt:lpwstr>
  </property>
  <property fmtid="{D5CDD505-2E9C-101B-9397-08002B2CF9AE}" pid="5" name="LastSaved">
    <vt:filetime>2026-10-05T00:00:00Z</vt:filetime>
  </property>
  <property fmtid="{D5CDD505-2E9C-101B-9397-08002B2CF9AE}" pid="6" name="SourceModified">
    <vt:lpwstr>D:20261001142354+05'30'</vt:lpwstr>
  </property>
</Properties>
</file>